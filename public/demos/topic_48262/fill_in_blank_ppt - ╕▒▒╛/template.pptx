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73"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Lst>
  <p:sldSz cx="12192000" cy="6858000"/>
  <p:notesSz cx="6858000" cy="9144000"/>
  <p:embeddedFontLst>
    <p:embeddedFont>
      <p:font typeface="仓耳与墨 W02" panose="02020400000000000000" charset="-122"/>
      <p:regular r:id="rId21"/>
    </p:embeddedFont>
    <p:embeddedFont>
      <p:font typeface="仓耳渔阳体 W02" panose="02020400000000000000" charset="-122"/>
      <p:regular r:id="rId22"/>
    </p:embeddedFont>
  </p:embeddedFontLst>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gs" Target="tags/tag82.xml"/><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image" Target="../media/image1.png"/><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8.xml"/><Relationship Id="rId2" Type="http://schemas.openxmlformats.org/officeDocument/2006/relationships/image" Target="../media/image1.png"/><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4.xml"/><Relationship Id="rId2" Type="http://schemas.openxmlformats.org/officeDocument/2006/relationships/image" Target="../media/image1.png"/><Relationship Id="rId1" Type="http://schemas.openxmlformats.org/officeDocument/2006/relationships/tags" Target="../tags/tag7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8.xml"/><Relationship Id="rId2" Type="http://schemas.openxmlformats.org/officeDocument/2006/relationships/image" Target="../media/image1.png"/><Relationship Id="rId1" Type="http://schemas.openxmlformats.org/officeDocument/2006/relationships/tags" Target="../tags/tag7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270635" y="2834640"/>
            <a:ext cx="9799320" cy="1188720"/>
          </a:xfrm>
        </p:spPr>
        <p:txBody>
          <a:bodyPr/>
          <a:p>
            <a:r>
              <a:rPr lang="zh-CN" altLang="zh-CN"/>
              <a:t>等高线地形图</a:t>
            </a:r>
            <a:endParaRPr lang="zh-CN" altLang="zh-CN"/>
          </a:p>
        </p:txBody>
      </p:sp>
      <p:pic>
        <p:nvPicPr>
          <p:cNvPr id="7" name="图片 6" descr="Alpha(1)(1)"/>
          <p:cNvPicPr>
            <a:picLocks noChangeAspect="1"/>
          </p:cNvPicPr>
          <p:nvPr/>
        </p:nvPicPr>
        <p:blipFill>
          <a:blip r:embed="rId2"/>
          <a:stretch>
            <a:fillRect/>
          </a:stretch>
        </p:blipFill>
        <p:spPr>
          <a:xfrm>
            <a:off x="9834245" y="5175885"/>
            <a:ext cx="2357755" cy="1682115"/>
          </a:xfrm>
          <a:prstGeom prst="rect">
            <a:avLst/>
          </a:prstGeom>
        </p:spPr>
      </p:pic>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等高线地形图</a:t>
            </a:r>
            <a:endParaRPr lang="zh-CN" altLang="en-US"/>
          </a:p>
        </p:txBody>
      </p:sp>
      <p:sp>
        <p:nvSpPr>
          <p:cNvPr id="3" name="内容占位符 2"/>
          <p:cNvSpPr>
            <a:spLocks noGrp="1"/>
          </p:cNvSpPr>
          <p:nvPr>
            <p:ph idx="1"/>
          </p:nvPr>
        </p:nvSpPr>
        <p:spPr/>
        <p:txBody>
          <a:bodyPr>
            <a:noAutofit/>
          </a:bodyPr>
          <a:p>
            <a:pPr marL="0" indent="0">
              <a:buNone/>
            </a:pPr>
            <a:r>
              <a:rPr lang="zh-CN" altLang="en-US" sz="3200"/>
              <a:t>建设选择在河流峡谷处是因为地处峡谷利于筑坝且有盆地地形蓄水量大；交通运输线路选某地是因为等高线稀疏、地形坡度和缓，建设周期短、投资少、施工容易；确定某地为盆地的理由是河流向中部汇集表明地势中间低四周高；引水工程选择某地是因为该地地势较高，河水可顺地势自流；选择某地开垦梯田是因为该地地势平缓、坡度较小，既扩大耕地面积又利于水土保持，实现生态、经济、社会</a:t>
            </a:r>
            <a:endParaRPr lang="zh-CN" altLang="en-US" sz="320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等高线地形图</a:t>
            </a:r>
            <a:endParaRPr lang="zh-CN" altLang="en-US"/>
          </a:p>
        </p:txBody>
      </p:sp>
      <p:sp>
        <p:nvSpPr>
          <p:cNvPr id="3" name="内容占位符 2"/>
          <p:cNvSpPr>
            <a:spLocks noGrp="1"/>
          </p:cNvSpPr>
          <p:nvPr>
            <p:ph idx="1"/>
          </p:nvPr>
        </p:nvSpPr>
        <p:spPr/>
        <p:txBody>
          <a:bodyPr>
            <a:noAutofit/>
          </a:bodyPr>
          <a:p>
            <a:pPr marL="0" indent="0">
              <a:buNone/>
            </a:pPr>
            <a:r>
              <a:rPr lang="zh-CN" altLang="en-US" sz="3200"/>
              <a:t>效益的统一；登山选择某线路是因为该地等高线稀疏、地形坡度较小，爬坡容易。</a:t>
            </a:r>
            <a:endParaRPr lang="zh-CN" altLang="en-US" sz="320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270635" y="2834640"/>
            <a:ext cx="9799320" cy="1188720"/>
          </a:xfrm>
        </p:spPr>
        <p:txBody>
          <a:bodyPr/>
          <a:p>
            <a:r>
              <a:rPr lang="zh-CN" altLang="zh-CN"/>
              <a:t>海洋资源</a:t>
            </a:r>
            <a:endParaRPr lang="zh-CN" altLang="zh-CN"/>
          </a:p>
        </p:txBody>
      </p:sp>
      <p:pic>
        <p:nvPicPr>
          <p:cNvPr id="7" name="图片 6" descr="Alpha(1)(1)"/>
          <p:cNvPicPr>
            <a:picLocks noChangeAspect="1"/>
          </p:cNvPicPr>
          <p:nvPr/>
        </p:nvPicPr>
        <p:blipFill>
          <a:blip r:embed="rId2"/>
          <a:stretch>
            <a:fillRect/>
          </a:stretch>
        </p:blipFill>
        <p:spPr>
          <a:xfrm>
            <a:off x="9834245" y="5175885"/>
            <a:ext cx="2357755" cy="1682115"/>
          </a:xfrm>
          <a:prstGeom prst="rect">
            <a:avLst/>
          </a:prstGeom>
        </p:spPr>
      </p:pic>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海洋资源</a:t>
            </a:r>
            <a:endParaRPr lang="zh-CN" altLang="en-US"/>
          </a:p>
        </p:txBody>
      </p:sp>
      <p:sp>
        <p:nvSpPr>
          <p:cNvPr id="3" name="内容占位符 2"/>
          <p:cNvSpPr>
            <a:spLocks noGrp="1"/>
          </p:cNvSpPr>
          <p:nvPr>
            <p:ph idx="1"/>
          </p:nvPr>
        </p:nvSpPr>
        <p:spPr/>
        <p:txBody>
          <a:bodyPr>
            <a:noAutofit/>
          </a:bodyPr>
          <a:p>
            <a:pPr marL="0" indent="0">
              <a:buNone/>
            </a:pPr>
            <a:r>
              <a:rPr lang="zh-CN" altLang="en-US" sz="3200"/>
              <a:t>渔业资源集中分布在温带沿海大陆架海域，因为大陆架水域海水较浅阳光充足光合作用强盛，寒暖流交汇或冬季冷海水上泛将海底营养物质带至表层，入海河流带来丰富盐类，浮游生物繁盛饵料充足；</a:t>
            </a:r>
            <a:endParaRPr lang="zh-CN" altLang="en-US" sz="3200"/>
          </a:p>
          <a:p>
            <a:pPr marL="0" indent="0">
              <a:buNone/>
            </a:pPr>
            <a:r>
              <a:rPr lang="zh-CN" altLang="en-US" sz="3200"/>
              <a:t>海底矿产资源的分布规律是近岸带的滨海砂矿砂、贝壳等建筑材料和金属矿产，大陆架浅海海底有石油、天然气以及煤、硫、磷等矿产资源，海盆主要集中于北太平洋；</a:t>
            </a:r>
            <a:endParaRPr lang="zh-CN" altLang="en-US" sz="320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海洋资源</a:t>
            </a:r>
            <a:endParaRPr lang="zh-CN" altLang="en-US"/>
          </a:p>
        </p:txBody>
      </p:sp>
      <p:sp>
        <p:nvSpPr>
          <p:cNvPr id="3" name="内容占位符 2"/>
          <p:cNvSpPr>
            <a:spLocks noGrp="1"/>
          </p:cNvSpPr>
          <p:nvPr>
            <p:ph idx="1"/>
          </p:nvPr>
        </p:nvSpPr>
        <p:spPr/>
        <p:txBody>
          <a:bodyPr>
            <a:noAutofit/>
          </a:bodyPr>
          <a:p>
            <a:pPr marL="0" indent="0">
              <a:buNone/>
            </a:pPr>
            <a:r>
              <a:rPr lang="zh-CN" altLang="en-US" sz="3200"/>
              <a:t>海洋空间开发利用的形式包括交通运输（港口、航道、海上机场等）、生产空间（海上电站、工业人工岛、海洋牧场等）、通信和电力空间（海底电缆）、储藏空间（海底货场、海底仓库等）、文化娱乐设施空间（海洋公园、海滨浴场、海上运动等），海上咽喉要道包括海峡或运河连通海域，如曼德海峡连通红海和阿拉伯海、马六甲海峡连通印度洋和太平洋、霍尔木兹海峡连通波斯湾和阿拉伯海、</a:t>
            </a:r>
            <a:endParaRPr lang="zh-CN" altLang="en-US" sz="320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海洋资源</a:t>
            </a:r>
            <a:endParaRPr lang="zh-CN" altLang="en-US"/>
          </a:p>
        </p:txBody>
      </p:sp>
      <p:sp>
        <p:nvSpPr>
          <p:cNvPr id="3" name="内容占位符 2"/>
          <p:cNvSpPr>
            <a:spLocks noGrp="1"/>
          </p:cNvSpPr>
          <p:nvPr>
            <p:ph idx="1"/>
          </p:nvPr>
        </p:nvSpPr>
        <p:spPr/>
        <p:txBody>
          <a:bodyPr>
            <a:noAutofit/>
          </a:bodyPr>
          <a:p>
            <a:pPr marL="0" indent="0">
              <a:buNone/>
            </a:pPr>
            <a:r>
              <a:rPr lang="zh-CN" altLang="en-US" sz="3200"/>
              <a:t>直布罗陀海峡连通地中海和大西洋、巽他海峡连通印度洋和太平洋、苏伊士运河连通红海和地中海、巴拿马运河连通太平洋和加勒比海；</a:t>
            </a:r>
            <a:endParaRPr lang="zh-CN" altLang="en-US" sz="3200"/>
          </a:p>
          <a:p>
            <a:pPr marL="0" indent="0">
              <a:buNone/>
            </a:pPr>
            <a:r>
              <a:rPr lang="zh-CN" altLang="en-US" sz="3200"/>
              <a:t>海洋污染绝大部分来源于陆地上的生产过程，工业生产过程中排出的废弃物是主要来源，核电站和工厂排出的冷却水流入河口或海中时给海洋生物带来影响，施入农田的杀虫剂随雨水流进河流最终汇入海洋，偶发性的海上石油平</a:t>
            </a:r>
            <a:endParaRPr lang="zh-CN" altLang="en-US" sz="3200"/>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海洋资源</a:t>
            </a:r>
            <a:endParaRPr lang="zh-CN" altLang="en-US"/>
          </a:p>
        </p:txBody>
      </p:sp>
      <p:sp>
        <p:nvSpPr>
          <p:cNvPr id="3" name="内容占位符 2"/>
          <p:cNvSpPr>
            <a:spLocks noGrp="1"/>
          </p:cNvSpPr>
          <p:nvPr>
            <p:ph idx="1"/>
          </p:nvPr>
        </p:nvSpPr>
        <p:spPr/>
        <p:txBody>
          <a:bodyPr>
            <a:noAutofit/>
          </a:bodyPr>
          <a:p>
            <a:pPr marL="0" indent="0">
              <a:buNone/>
            </a:pPr>
            <a:r>
              <a:rPr lang="zh-CN" altLang="en-US" sz="3200"/>
              <a:t>台和油轮事故造成海洋污染；</a:t>
            </a:r>
            <a:endParaRPr lang="zh-CN" altLang="en-US" sz="3200"/>
          </a:p>
          <a:p>
            <a:pPr marL="0" indent="0">
              <a:buNone/>
            </a:pPr>
            <a:r>
              <a:rPr lang="zh-CN" altLang="en-US" sz="3200"/>
              <a:t>海洋生态破坏的原因是有些海岸工程建设和围海造田缺乏科学论证破坏了海岸环境和海岸带生态系统，人类对某些海洋生物的过度捕捞导致海洋生物数量减少、质量下降，自然环境的变化对海洋生态环境产生影响。</a:t>
            </a:r>
            <a:endParaRPr lang="zh-CN" altLang="en-US" sz="320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270635" y="2834640"/>
            <a:ext cx="9799320" cy="1188720"/>
          </a:xfrm>
        </p:spPr>
        <p:txBody>
          <a:bodyPr/>
          <a:p>
            <a:r>
              <a:rPr lang="zh-CN" altLang="zh-CN"/>
              <a:t>盐度和洋流</a:t>
            </a:r>
            <a:endParaRPr lang="zh-CN" altLang="zh-CN"/>
          </a:p>
        </p:txBody>
      </p:sp>
      <p:pic>
        <p:nvPicPr>
          <p:cNvPr id="7" name="图片 6" descr="Alpha(1)(1)"/>
          <p:cNvPicPr>
            <a:picLocks noChangeAspect="1"/>
          </p:cNvPicPr>
          <p:nvPr/>
        </p:nvPicPr>
        <p:blipFill>
          <a:blip r:embed="rId2"/>
          <a:stretch>
            <a:fillRect/>
          </a:stretch>
        </p:blipFill>
        <p:spPr>
          <a:xfrm>
            <a:off x="9834245" y="5175885"/>
            <a:ext cx="2357755" cy="1682115"/>
          </a:xfrm>
          <a:prstGeom prst="rect">
            <a:avLst/>
          </a:prstGeom>
        </p:spPr>
      </p:pic>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海洋资源</a:t>
            </a:r>
            <a:endParaRPr lang="zh-CN" altLang="en-US"/>
          </a:p>
        </p:txBody>
      </p:sp>
      <p:sp>
        <p:nvSpPr>
          <p:cNvPr id="3" name="内容占位符 2"/>
          <p:cNvSpPr>
            <a:spLocks noGrp="1"/>
          </p:cNvSpPr>
          <p:nvPr>
            <p:ph idx="1"/>
          </p:nvPr>
        </p:nvSpPr>
        <p:spPr/>
        <p:txBody>
          <a:bodyPr>
            <a:noAutofit/>
          </a:bodyPr>
          <a:p>
            <a:pPr marL="0" indent="0">
              <a:buNone/>
            </a:pPr>
            <a:r>
              <a:rPr lang="zh-CN" altLang="en-US" sz="3200"/>
              <a:t>盐度最高的是红海，因为地处副热带海区降水稀少蒸发旺盛，周围是热带沙漠地区缺少大河注入；盐度最低的是波罗的海，因为地处较高纬度气温低蒸发弱，周围是温带海洋性气候区有淡水注入；巴尔喀什湖东咸西淡的原因是东部地处内陆降水稀少蒸发旺盛缺少河流注入，西部有河流注入起稀释作用，中部窄不利于两边水体交换造成两侧盐度差异较大；世界表层海水盐度的水平分布规律是从南北</a:t>
            </a:r>
            <a:endParaRPr lang="zh-CN" altLang="en-US" sz="3200"/>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海洋资源</a:t>
            </a:r>
            <a:endParaRPr lang="zh-CN" altLang="en-US"/>
          </a:p>
        </p:txBody>
      </p:sp>
      <p:sp>
        <p:nvSpPr>
          <p:cNvPr id="3" name="内容占位符 2"/>
          <p:cNvSpPr>
            <a:spLocks noGrp="1"/>
          </p:cNvSpPr>
          <p:nvPr>
            <p:ph idx="1"/>
          </p:nvPr>
        </p:nvSpPr>
        <p:spPr/>
        <p:txBody>
          <a:bodyPr>
            <a:noAutofit/>
          </a:bodyPr>
          <a:p>
            <a:pPr marL="0" indent="0">
              <a:buNone/>
            </a:pPr>
            <a:r>
              <a:rPr lang="zh-CN" altLang="en-US" sz="3200"/>
              <a:t>半球的副热带海区分别向两侧的低纬度和高纬度递减；判断某洋流性质为寒流或暖流的理由是从温度方面看洋流流经海区温度较同纬度其他海区低或高，从方向方面看由较高或较低纬度流向较低或较高纬度。</a:t>
            </a:r>
            <a:endParaRPr lang="zh-CN" altLang="en-US" sz="3200"/>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270635" y="2834640"/>
            <a:ext cx="9799320" cy="1188720"/>
          </a:xfrm>
        </p:spPr>
        <p:txBody>
          <a:bodyPr/>
          <a:p>
            <a:r>
              <a:rPr lang="zh-CN" altLang="zh-CN"/>
              <a:t>河流及交通</a:t>
            </a:r>
            <a:endParaRPr lang="zh-CN" altLang="zh-CN"/>
          </a:p>
        </p:txBody>
      </p:sp>
      <p:pic>
        <p:nvPicPr>
          <p:cNvPr id="7" name="图片 6" descr="Alpha(1)(1)"/>
          <p:cNvPicPr>
            <a:picLocks noChangeAspect="1"/>
          </p:cNvPicPr>
          <p:nvPr/>
        </p:nvPicPr>
        <p:blipFill>
          <a:blip r:embed="rId2"/>
          <a:stretch>
            <a:fillRect/>
          </a:stretch>
        </p:blipFill>
        <p:spPr>
          <a:xfrm>
            <a:off x="9834245" y="5175885"/>
            <a:ext cx="2357755" cy="1682115"/>
          </a:xfrm>
          <a:prstGeom prst="rect">
            <a:avLst/>
          </a:prstGeom>
        </p:spPr>
      </p:pic>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河流及交通</a:t>
            </a:r>
            <a:endParaRPr lang="zh-CN" altLang="en-US"/>
          </a:p>
        </p:txBody>
      </p:sp>
      <p:sp>
        <p:nvSpPr>
          <p:cNvPr id="3" name="内容占位符 2"/>
          <p:cNvSpPr>
            <a:spLocks noGrp="1"/>
          </p:cNvSpPr>
          <p:nvPr>
            <p:ph idx="1"/>
          </p:nvPr>
        </p:nvSpPr>
        <p:spPr/>
        <p:txBody>
          <a:bodyPr>
            <a:noAutofit/>
          </a:bodyPr>
          <a:p>
            <a:pPr marL="0" indent="0">
              <a:buNone/>
            </a:pPr>
            <a:r>
              <a:rPr lang="zh-CN" altLang="en-US" sz="3200"/>
              <a:t>中国南流出境河流境内外名称变化包括元江-红河、澜沧江-湄公河、怒江-萨尔温江、雅鲁藏布江-布拉马普特拉河；西欧河流航运价值大是因为河流水量充沛、水位稳定、含沙量小、无冰期；俄罗斯鄂毕河（叶尼塞河、勒拿河）航运价值不大是因为纬度较高、封冻期长、有凌汛现象；极地航路开辟的重要意义是缩短航程、节时节能；我国西南地区水能丰富的主要原因是地处湿润地区降水丰沛径流</a:t>
            </a:r>
            <a:endParaRPr lang="zh-CN" altLang="en-US" sz="3200"/>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河流及交通</a:t>
            </a:r>
            <a:endParaRPr lang="zh-CN" altLang="en-US"/>
          </a:p>
        </p:txBody>
      </p:sp>
      <p:sp>
        <p:nvSpPr>
          <p:cNvPr id="3" name="内容占位符 2"/>
          <p:cNvSpPr>
            <a:spLocks noGrp="1"/>
          </p:cNvSpPr>
          <p:nvPr>
            <p:ph idx="1"/>
          </p:nvPr>
        </p:nvSpPr>
        <p:spPr/>
        <p:txBody>
          <a:bodyPr>
            <a:noAutofit/>
          </a:bodyPr>
          <a:p>
            <a:pPr marL="0" indent="0">
              <a:buNone/>
            </a:pPr>
            <a:r>
              <a:rPr lang="zh-CN" altLang="en-US" sz="3200">
                <a:sym typeface="+mn-ea"/>
              </a:rPr>
              <a:t>量</a:t>
            </a:r>
            <a:r>
              <a:rPr lang="zh-CN" altLang="en-US" sz="3200"/>
              <a:t>大，地处一、二阶梯交界处河流落差大，三峡地区水能丰富的主要原因是地处湿润地区降水丰沛径流量大，地处二、三阶梯交界处河流落差大；南昆铁路建设的经济意义是有利于资源开发和物资输出、发挥铁路对经济辐射的作用促进外向型经济发展、开发旅游资源带动第三产业发展，政治意义是有利于巩固民族团结、加快西南区脱贫速度、有利于社会稳定，战略意义是有利于加快对外开放发展外</a:t>
            </a:r>
            <a:endParaRPr lang="zh-CN" altLang="en-US" sz="3200"/>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河流及交通</a:t>
            </a:r>
            <a:endParaRPr lang="zh-CN" altLang="en-US"/>
          </a:p>
        </p:txBody>
      </p:sp>
      <p:sp>
        <p:nvSpPr>
          <p:cNvPr id="3" name="内容占位符 2"/>
          <p:cNvSpPr>
            <a:spLocks noGrp="1"/>
          </p:cNvSpPr>
          <p:nvPr>
            <p:ph idx="1"/>
          </p:nvPr>
        </p:nvSpPr>
        <p:spPr/>
        <p:txBody>
          <a:bodyPr>
            <a:noAutofit/>
          </a:bodyPr>
          <a:p>
            <a:pPr marL="0" indent="0">
              <a:buNone/>
            </a:pPr>
            <a:r>
              <a:rPr lang="zh-CN" altLang="en-US" sz="3200">
                <a:sym typeface="+mn-ea"/>
              </a:rPr>
              <a:t>向</a:t>
            </a:r>
            <a:r>
              <a:rPr lang="zh-CN" altLang="en-US" sz="3200"/>
              <a:t>型经济、巩固国防保卫边疆；俄罗斯修建西伯利亚大铁路的重要意义是加强东西部经济联系促进物资交流、加快资源开发化资源优势为经济优势。</a:t>
            </a:r>
            <a:endParaRPr lang="zh-CN" altLang="en-US" sz="3200"/>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7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7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commondata" val="eyJoZGlkIjoiYzY2ZjExYzE4ZDI3NDNjYWQxMTU3Mjg4MTlmYTc3Y2E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
      <a:majorFont>
        <a:latin typeface="仓耳与墨 W02"/>
        <a:ea typeface="仓耳与墨 W02"/>
        <a:cs typeface=""/>
      </a:majorFont>
      <a:minorFont>
        <a:latin typeface="仓耳渔阳体 W02"/>
        <a:ea typeface="仓耳渔阳体 W02"/>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1572</Words>
  <Application>WPS 演示</Application>
  <PresentationFormat>宽屏</PresentationFormat>
  <Paragraphs>55</Paragraphs>
  <Slides>15</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宋体</vt:lpstr>
      <vt:lpstr>Wingdings</vt:lpstr>
      <vt:lpstr>Wingdings</vt:lpstr>
      <vt:lpstr>仓耳与墨 W02</vt:lpstr>
      <vt:lpstr>微软雅黑</vt:lpstr>
      <vt:lpstr>Arial Unicode MS</vt:lpstr>
      <vt:lpstr>仓耳渔阳体 W02</vt:lpstr>
      <vt:lpstr>Calibri</vt:lpstr>
      <vt:lpstr>WPS</vt:lpstr>
      <vt:lpstr>等高线地形图</vt:lpstr>
      <vt:lpstr>等高线地形图</vt:lpstr>
      <vt:lpstr>等高线地形图</vt:lpstr>
      <vt:lpstr>海洋资源</vt:lpstr>
      <vt:lpstr>海洋资源</vt:lpstr>
      <vt:lpstr>海洋资源</vt:lpstr>
      <vt:lpstr>海洋资源</vt:lpstr>
      <vt:lpstr>海洋资源</vt:lpstr>
      <vt:lpstr>盐度和洋流</vt:lpstr>
      <vt:lpstr>海洋资源</vt:lpstr>
      <vt:lpstr>海洋资源</vt:lpstr>
      <vt:lpstr>河流及交通</vt:lpstr>
      <vt:lpstr>河流及交通</vt:lpstr>
      <vt:lpstr>河流及交通</vt:lpstr>
      <vt:lpstr>河流及交通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lz</dc:creator>
  <cp:lastModifiedBy>坚</cp:lastModifiedBy>
  <cp:revision>157</cp:revision>
  <dcterms:created xsi:type="dcterms:W3CDTF">2019-06-19T02:08:00Z</dcterms:created>
  <dcterms:modified xsi:type="dcterms:W3CDTF">2026-06-27T06:35:06Z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165798A0FB4A46C9A57E651EC8DF7C56_11</vt:lpwstr>
  </property>
</Properties>
</file>