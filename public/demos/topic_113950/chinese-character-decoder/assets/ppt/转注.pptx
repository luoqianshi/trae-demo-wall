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各位同学，今天我们来深入探讨汉字造字法中的“转注”。作为汉字六书之一，转注体现了汉字之间的意义关联与孳乳演变，是理解汉字文化内涵的重要钥匙。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大家好，这一页我们来明确一下本节课的学习目标。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要简单了解“转注”这一概念的基本内涵；其次，我们会通过“老”和“考”这一对经典的汉字案例，来深入认识转注的特点；最后，我们需要明确，转注本质上是一种汉字的用字方法，而不是造字方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带着这些目标，我们开始今天的学习。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转注是汉字六书之一，其核心定义为“建类一首，同意相受”。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这句话的意思是：转注字属于同一个部首（建类一首），并且它们的意义是相同或相近的，可以互相解释（同意相受）。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例如，“考”和“老”，都属于“老”部，意义上都与年长有关，因此互为转注。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大家好，这一页我们来深入了解一下“转注”的核心特点。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首先，大家要明确一个概念：转注属于用字的方法，而不是造新字的方法。这一点非常关键，它是对已有汉字的一种运用和诠释。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其次，转注的两个字通常具有同一个部首。部首的一致性是识别转注关系的重要外在特征。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最后，这两个字的意思是相近的，甚至可以互相解释。比如我们常说的“考”和“老”，它们在意义上紧密相连，可以互为注解。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对于初级班的同学来说，掌握这三个核心特征，建立起对转注的基本认知就足够了。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这一页我们来深入探讨一对经典的汉字同源案例——“老”与“考”。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大家看屏幕中间，左边是“老”，右边是“考”。在甲骨文中，这两个字的字形非常接近，都描绘了一位长发、弯腰、拄着拐杖的长者形象。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“老”是一个典型的象形字，直观地表现了年长的特征。而“考”，虽然字形与“老”极其相似，但它的含义更侧重于“寿考”（长寿）以及对祖先的追念，后来引申出“考察”、“考证”的意思。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这两个字不仅在字形上同源，在意义上也紧密相连，是汉字中“形同义近”的典型代表。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这一页我们来深入解析“老”这个汉字。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首先看它的字形演变，最上方的意象展示了甲骨文的形态，像一个长发披肩、弯腰驼背、拄着拐杖的老人形象，非常直观地表达了“年长”的含义。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中间的楷书“老”字，笔画稳重，体现了岁月的厚重感。它的核心含义就是指年纪大的人。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从造字法来看，这是一个象形字，本义就是指老人、年长。这个字不仅代表了年龄的增长，更蕴含着对长辈的尊敬和岁月的沉淀。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这一页我们来深入解析“考”字。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大家看中间的这个字，“考”，它的甲骨文字形非常有意思，大家看上方的图示，它其实就像一个偻背的老人，拄着拐杖的样子，这和“老”字的字形非常相似。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在本义上，“考”指的是父亲，特别是指已故的父亲，也泛指长辈。它和“老”属于同部首，意义紧密相连，都带有对年长者的称谓含义。在古代文献中，“考”常用来表示长寿、寿考，也用于对先父的尊称。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这一页我们来深入探讨“老”与“考”这两个字的关系。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大家看左边的“老”字，甲骨文形态像一个头发稀疏、弯腰驼背的老人形象，本义就是指年纪大。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右边的“考”字，在甲骨文中与“老”的字形非常接近，甚至在早期是通用的。它的本义也是指长辈，特别是指父亲。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这两个字不仅字形同源，意思也相近，在古代训诂学中，它们属于“互训”的关系，也就是可以互相解释。这体现了汉字中同源字的紧密联系。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这一页我们来看更多的转注字例子。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首先是“顶”和“巅”，它们都带有“页”字旁。在古文字中，“页”的本义就是人头，所以这两个字的本义都与头部有关，特指头顶，后来也引申为事物的最高处。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另一组是“追”和“逐”，它们都带有“走之旁”（辶），这个偏旁与行走、移动有关。这两个字都表示追赶、跟随的意思，在语义上非常相近。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转注字的数量在汉字中相对较少，它们的核心特点是拥有共同的部首，并且字义上相互关联、可以互相注释。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这一页我们来深入探讨“转注”和“假借”与其他四种造字法的根本区别。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大家可以看到，我们将六书分为了两类：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第一类是“造字之法”，包括象形、指事、会意、形声。这四种方法的核心在于“创造新的字形”，它们是汉字产生的源头，赋予了汉字新的书写形式。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第二类，也就是我们今天重点关注的“转注”和“假借”，它们属于“用字之法”。这意味着，它们并不创造新的字形，而是利用已经存在的字，通过引申、借用或转训的方式来表达新的意义。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理解这一点至关重要，因为它是我们理解转注本质的基础——它不是在造字，而是在为已有的字赋予更丰富的内涵或建立意义上的关联。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各位同学，我们来做一个小小的随堂练习，巩固一下刚才学到的“转注”知识。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第一题，大家思考一下转注字的核心特征是什么？是声音相同？部首相同且意义相近？还是通过描绘事物形状来造字？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第二题，请判断哪一组字符合转注的定义。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给大家一点时间思考，我们稍后公布答案。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同学们，这节课我们重点学习了“转注”这一汉字造字法的特点。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首先，大家要记住转注的核心特征：拥有相同的部首，并且在意义上可以互相解释。这是判断一个字是否属于转注的关键。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我们以“老”和“考”为例，它们都属于“老”部，并且意义相近，这就是典型的转注关系。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最后，特别需要大家注意的是，转注实际上是一种用字的方法，而不是一种创造新字的方法。这一点在考试和理解中非常重要。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感谢大家的聆听。转注作为汉字六书之一，承载着深厚的文化内涵与逻辑关联，它不仅是造字的方法，更是我们理解汉字演变与文化传承的重要钥匙。希望今天的分享能为大家带来新的启发。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794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5400" spc="800">
                <a:solidFill>
                  <a:srgbClr val="1A1A1A"/>
                </a:solidFill>
                <a:latin typeface="Noto Serif SC"/>
                <a:ea typeface="Noto Serif SC"/>
                <a:cs typeface="Noto Serif SC"/>
                <a:sym typeface="Noto Serif SC"/>
              </a:rPr>
              <a:t>转注造字法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87086" y="1905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200" spc="3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Mutually Explanatory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87086" y="4318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8C8C8C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 · 对外汉语教学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143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212121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学习目标 /</a:t>
            </a:r>
            <a:r>
              <a:rPr lang="en-US" b="false" i="false" strike="noStrike" u="none" sz="32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048000" y="2844800"/>
            <a:ext cx="152400" cy="152400"/>
          </a:xfrm>
          <a:prstGeom prst="ellipse">
            <a:avLst/>
          </a:prstGeom>
          <a:solidFill>
            <a:srgbClr val="C23531">
              <a:alpha val="100000"/>
            </a:srgbClr>
          </a:solidFill>
          <a:ln cmpd="sng" cap="flat">
            <a:solidFill>
              <a:srgbClr val="A91E1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429000" y="26670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简单了解转注的概念</a:t>
            </a: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Basic understanding of zhuanzhu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048000" y="3987800"/>
            <a:ext cx="152400" cy="152400"/>
          </a:xfrm>
          <a:prstGeom prst="ellipse">
            <a:avLst/>
          </a:prstGeom>
          <a:solidFill>
            <a:srgbClr val="C23531">
              <a:alpha val="100000"/>
            </a:srgbClr>
          </a:solidFill>
          <a:ln cmpd="sng" cap="flat">
            <a:solidFill>
              <a:srgbClr val="A91E1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29000" y="38100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认识经典案例“老”和“考”</a:t>
            </a: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Know the classic pair: old &amp; elderly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048000" y="5130800"/>
            <a:ext cx="152400" cy="152400"/>
          </a:xfrm>
          <a:prstGeom prst="ellipse">
            <a:avLst/>
          </a:prstGeom>
          <a:solidFill>
            <a:srgbClr val="C23531">
              <a:alpha val="100000"/>
            </a:srgbClr>
          </a:solidFill>
          <a:ln cmpd="sng" cap="flat">
            <a:solidFill>
              <a:srgbClr val="A91E1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49530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知道转注是用字方法</a:t>
            </a:r>
            <a: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Know it's about word usage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870131"/>
            <a:ext cx="10160000" cy="74893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什么是转注？/</a:t>
            </a:r>
            <a:r>
              <a:rPr lang="en-US" b="false" i="false" strike="noStrike" u="none" sz="3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What is Zhuanzhu?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2118360"/>
            <a:ext cx="9144000" cy="2746103"/>
          </a:xfrm>
          <a:prstGeom prst="roundRect">
            <a:avLst>
              <a:gd name="adj" fmla="val 5549"/>
            </a:avLst>
          </a:prstGeom>
          <a:solidFill>
            <a:srgbClr val="EEEEEE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2742474"/>
            <a:ext cx="8890000" cy="99858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建类一首，同意相受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3741057"/>
            <a:ext cx="8890000" cy="624114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Same radical, same meaning, explain each other.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238931"/>
            <a:ext cx="10160000" cy="74893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同一部首，意思相近，互相解释/</a:t>
            </a:r>
            <a:r>
              <a:rPr lang="en-US" b="false" i="false" strike="noStrike" u="none" sz="16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Same radical, similar meaning, mutually explain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8255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转注的特点 /</a:t>
            </a:r>
            <a:r>
              <a:rPr lang="en-US" b="false" i="false" strike="noStrike" u="none" sz="3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Features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794000" y="2400300"/>
            <a:ext cx="152400" cy="1524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302000" y="222250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属于用字方法，不是造新字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Word usage, not creating new characters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94000" y="3543300"/>
            <a:ext cx="152400" cy="1524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02000" y="336550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两个字同一部首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Same radical for both characters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794000" y="4559300"/>
            <a:ext cx="152400" cy="152400"/>
          </a:xfrm>
          <a:prstGeom prst="roundRect">
            <a:avLst>
              <a:gd name="adj" fmla="val 0"/>
            </a:avLst>
          </a:prstGeom>
          <a:solidFill>
            <a:srgbClr val="B91C1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302000" y="438150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意思相近，可以互相解释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Similar meanings, explain each other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5651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erif SC"/>
                <a:ea typeface="Noto Serif SC"/>
                <a:cs typeface="Noto Serif SC"/>
                <a:sym typeface="Noto Serif SC"/>
              </a:rPr>
              <a:t>初级班了解即可 /</a:t>
            </a:r>
            <a:r>
              <a:rPr lang="en-US" b="false" i="false" strike="noStrike" u="none" sz="1300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For beginners: basic understanding is enough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1016000"/>
            <a:ext cx="1117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经典案例：老 考 /</a:t>
            </a:r>
            <a:r>
              <a:rPr lang="en-US" b="fals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Classic Pair: Lǎo &amp; Kǎo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3238500" y="2794000"/>
            <a:ext cx="1143000" cy="1143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905000" y="4191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老 lǎo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778000" y="49530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象形：长发拄拐的长者之形</a:t>
            </a:r>
            <a: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本义指年纪大、年长的人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810500" y="2794000"/>
            <a:ext cx="1143000" cy="1143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477000" y="4191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考 kǎo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49530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会意：从老省，声如考</a:t>
            </a:r>
            <a: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表寿考、考察，亦指已故父亲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609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57575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两个字长得像，意思也像</a:t>
            </a:r>
            <a:r>
              <a:rPr lang="en-US" b="false" i="false" strike="noStrike" u="none" sz="1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/ They look similar and mean similar things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524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老 lǎo /</a:t>
            </a:r>
            <a:r>
              <a:rPr lang="en-US" b="false" i="false" strike="noStrike" u="none" sz="2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Old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588000" y="2667000"/>
            <a:ext cx="1016000" cy="1016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0" y="4064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141414"/>
                </a:solidFill>
                <a:latin typeface="Noto Serif SC"/>
                <a:ea typeface="Noto Serif SC"/>
                <a:cs typeface="Noto Serif SC"/>
                <a:sym typeface="Noto Serif SC"/>
              </a:rPr>
              <a:t>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270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年纪大的人 /</a:t>
            </a:r>
            <a:r>
              <a:rPr lang="en-US" b="false" i="false" strike="noStrike" u="none" sz="1800">
                <a:solidFill>
                  <a:srgbClr val="505050"/>
                </a:solidFill>
                <a:latin typeface="Roboto"/>
                <a:ea typeface="Roboto"/>
                <a:cs typeface="Roboto"/>
                <a:sym typeface="Roboto"/>
              </a:rPr>
              <a:t>old person, elderly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905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本义：老人、年长 /</a:t>
            </a:r>
            <a:r>
              <a:rPr lang="en-US" b="false" i="false" strike="noStrike" u="none" sz="14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Original meaning: old, aged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905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考 kǎo /</a:t>
            </a:r>
            <a:r>
              <a:rPr lang="en-US" b="false" i="false" strike="noStrike" u="none" sz="2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Elderly (deceased father)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175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4699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原指父亲、长辈</a:t>
            </a:r>
            <a:r>
              <a:rPr lang="en-US" b="false" i="false" strike="noStrike" u="none" sz="16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/ originally: father, elder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5461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与“老”同部首，古字形像偻背老人，引申为年老、长寿及逝去的父辈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/ Same radical as 老, depicts an elderly person in ancient script, symbolizing age and ancestors.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1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老 与 考：互相解释 /</a:t>
            </a:r>
            <a:r>
              <a:rPr lang="en-US" b="false" i="false" strike="noStrike" u="none" sz="2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Mutually Explain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384373" flipH="false" flipV="false">
            <a:off x="5207358" y="3326641"/>
            <a:ext cx="1777285" cy="807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889000" y="2568303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838303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老 = 年纪大 /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old = aged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7000" y="2568303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77000" y="3838303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考 = 长辈、父亲 / kǎo =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elder, father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" y="4981303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57575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同一部首，意思相近，可以互训</a:t>
            </a:r>
            <a:r>
              <a:rPr lang="en-US" b="false" i="false" strike="noStrike" u="none" sz="14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/ Same radical, similar meaning, explain each other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889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更多例子</a:t>
            </a:r>
            <a:r>
              <a:rPr lang="en-US" b="false" i="false" strike="noStrike" u="none" sz="2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/ More Examples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2032000"/>
            <a:ext cx="1092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2225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丁</a:t>
            </a:r>
            <a:r>
              <a:rPr lang="en-US" b="true" i="false" strike="noStrike" u="none" sz="3600">
                <a:solidFill>
                  <a:srgbClr val="CC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页</a:t>
            </a:r>
            <a:r>
              <a:rPr lang="en-US" b="false" i="false" strike="noStrike" u="none" sz="3600">
                <a:solidFill>
                  <a:srgbClr val="969696"/>
                </a:solidFill>
                <a:latin typeface="Noto Serif SC"/>
                <a:ea typeface="Noto Serif SC"/>
                <a:cs typeface="Noto Serif SC"/>
                <a:sym typeface="Noto Serif SC"/>
              </a:rPr>
              <a:t>/</a:t>
            </a:r>
            <a:r>
              <a:rPr lang="en-US" b="false" i="false" strike="noStrike" u="none" sz="3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山</a:t>
            </a:r>
            <a:r>
              <a:rPr lang="en-US" b="true" i="false" strike="noStrike" u="none" sz="3600">
                <a:solidFill>
                  <a:srgbClr val="CC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页</a:t>
            </a:r>
            <a:r>
              <a:rPr lang="en-US" b="false" i="false" strike="noStrike" u="none" sz="3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巅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29845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共「页」字旁，本义皆指头顶，引申为事物的最高处</a:t>
            </a:r>
            <a:r>
              <a:rPr lang="en-US" b="false" i="false" strike="noStrike" u="none" sz="14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 |</a:t>
            </a:r>
            <a:r>
              <a:rPr lang="en-US" b="false" i="false" strike="noStrike" u="none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dǐng / diān: Both share the 'head' radical (页), referring to the crown of the head or the highest point.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937000"/>
            <a:ext cx="1092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41275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C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辶</a:t>
            </a:r>
            <a:r>
              <a:rPr lang="en-US" b="false" i="false" strike="noStrike" u="none" sz="3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追</a:t>
            </a:r>
            <a:r>
              <a:rPr lang="en-US" b="false" i="false" strike="noStrike" u="none" sz="3600">
                <a:solidFill>
                  <a:srgbClr val="969696"/>
                </a:solidFill>
                <a:latin typeface="Noto Serif SC"/>
                <a:ea typeface="Noto Serif SC"/>
                <a:cs typeface="Noto Serif SC"/>
                <a:sym typeface="Noto Serif SC"/>
              </a:rPr>
              <a:t>/</a:t>
            </a:r>
            <a:r>
              <a:rPr lang="en-US" b="true" i="false" strike="noStrike" u="none" sz="3600">
                <a:solidFill>
                  <a:srgbClr val="CC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辶</a:t>
            </a:r>
            <a:r>
              <a:rPr lang="en-US" b="false" i="false" strike="noStrike" u="none" sz="3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48895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共「辶」（走之旁），皆表示追赶、追随，侧重行动上的趋赴</a:t>
            </a:r>
            <a:r>
              <a:rPr lang="en-US" b="false" i="false" strike="noStrike" u="none" sz="14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 |</a:t>
            </a:r>
            <a:r>
              <a:rPr lang="en-US" b="false" i="false" strike="noStrike" u="none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zhuī / zhú: Both share the 'walk' radical (辶), meaning to chase, pursue, or follow closely.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584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转注字数量不多，核心特征为部首同源、字义相通</a:t>
            </a:r>
            <a:r>
              <a:rPr lang="en-US" b="false" i="false" strike="noStrike" u="none" sz="13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 /</a:t>
            </a:r>
            <a:r>
              <a:rPr lang="en-US" b="false" i="false" strike="noStrike" u="none" sz="1300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There are relatively few zhuanzhu characters in the Chinese writing system.</a:t>
            </a:r>
            <a:r>
              <a:rPr lang="en-US" b="false" i="false" strike="noStrike" u="none" sz="13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ctr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77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转注的特别之处 /</a:t>
            </a:r>
            <a:r>
              <a:rPr lang="en-US" b="false" i="false" strike="noStrike" u="none" sz="2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What Makes It Different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17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 · 指事 · 会意 · 形声 — 造新字的方法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Pictograph, Indicative, Associative, Phonetic = Methods to CREATE NEW characters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44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B22222"/>
                </a:solidFill>
                <a:latin typeface="Noto Serif SC"/>
                <a:ea typeface="Noto Serif SC"/>
                <a:cs typeface="Noto Serif SC"/>
                <a:sym typeface="Noto Serif SC"/>
              </a:rPr>
              <a:t>转注 · 假借 — 用字的方法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A03232"/>
                </a:solidFill>
                <a:latin typeface="Roboto"/>
                <a:ea typeface="Roboto"/>
                <a:cs typeface="Roboto"/>
                <a:sym typeface="Roboto"/>
              </a:rPr>
              <a:t>Zhuanzhu &amp; Jiajie = WORD USAGE methods (No new character forms created)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58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六书中，前四个是造字法，后两个是用字法。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 /</a:t>
            </a:r>
            <a:r>
              <a:rPr lang="en-US" b="false" i="false" strike="noStrike" u="none" sz="14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Of the Six Books, the first four generate new character forms, while the latter two are about extending meaning and usage.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63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小练习 /</a:t>
            </a:r>
            <a:r>
              <a:rPr lang="en-US" b="true" i="false" strike="noStrike" u="none" sz="3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Quick Practice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05000"/>
            <a:ext cx="1016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8C4B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095500"/>
            <a:ext cx="965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转注字的特点是？ /</a:t>
            </a:r>
            <a:r>
              <a:rPr lang="en-US" b="true" i="false" strike="noStrike" u="none" sz="2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What is the feature of zhuanzhu?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2794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同音借用 (</a:t>
            </a:r>
            <a:r>
              <a:rPr lang="en-US" b="false" i="false" strike="noStrike" u="none" sz="16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same sound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2794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B. 同部同义 (</a:t>
            </a:r>
            <a:r>
              <a:rPr lang="en-US" b="false" i="false" strike="noStrike" u="none" sz="16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same radical &amp; meaning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0" y="2794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C. 画画造字 (</a:t>
            </a:r>
            <a:r>
              <a:rPr lang="en-US" b="false" i="false" strike="noStrike" u="none" sz="16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draw pictures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873500"/>
            <a:ext cx="1016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C8C4B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4064000"/>
            <a:ext cx="965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哪一组是转注字？ /</a:t>
            </a:r>
            <a:r>
              <a:rPr lang="en-US" b="true" i="false" strike="noStrike" u="none" sz="2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Which pair is zhuanzhu?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4762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老 / 考 (</a:t>
            </a:r>
            <a:r>
              <a:rPr lang="en-US" b="false" i="false" strike="noStrike" u="none" sz="16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old / elder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4762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B. 日 / 月 (</a:t>
            </a:r>
            <a:r>
              <a:rPr lang="en-US" b="false" i="false" strike="noStrike" u="none" sz="16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sun / moon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0" y="4762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C. 河 / 花 (</a:t>
            </a:r>
            <a:r>
              <a:rPr lang="en-US" b="false" i="false" strike="noStrike" u="none" sz="16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river / flower</a:t>
            </a:r>
            <a:r>
              <a:rPr lang="en-US" b="false" i="false" strike="noStrike" u="none" sz="16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5905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答案：1.B 2.A /</a:t>
            </a:r>
            <a:r>
              <a:rPr lang="en-US" b="false" i="false" strike="noStrike" u="none" sz="16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Answers: 1.B 2.A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18872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本课总结 /</a:t>
            </a:r>
            <a:r>
              <a:rPr lang="en-US" b="false" i="false" strike="noStrike" u="none" sz="3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Summary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667000" y="2763520"/>
            <a:ext cx="152400" cy="152400"/>
          </a:xfrm>
          <a:prstGeom prst="roundRect">
            <a:avLst>
              <a:gd name="adj" fmla="val 0"/>
            </a:avLst>
          </a:prstGeom>
          <a:solidFill>
            <a:srgbClr val="C22C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048000" y="264922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转注：同部首，同义互训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Zhuanzhu: same radical, mutual explanation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667000" y="3906520"/>
            <a:ext cx="152400" cy="152400"/>
          </a:xfrm>
          <a:prstGeom prst="roundRect">
            <a:avLst>
              <a:gd name="adj" fmla="val 0"/>
            </a:avLst>
          </a:prstGeom>
          <a:solidFill>
            <a:srgbClr val="C22C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048000" y="379222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经典案例：老、考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Classic example: lǎo, kǎo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667000" y="5049520"/>
            <a:ext cx="152400" cy="152400"/>
          </a:xfrm>
          <a:prstGeom prst="roundRect">
            <a:avLst>
              <a:gd name="adj" fmla="val 0"/>
            </a:avLst>
          </a:prstGeom>
          <a:solidFill>
            <a:srgbClr val="C22C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0" y="4935220"/>
            <a:ext cx="762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性质：用字方法，不是造字法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Nature: word usage, not character creation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794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400" spc="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谢谢观看 /</a:t>
            </a:r>
            <a:r>
              <a:rPr lang="en-US" b="false" i="false" strike="noStrike" u="none" sz="4400" spc="4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4064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汉字六书·转注造字法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572000"/>
            <a:ext cx="1219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8C8C"/>
                </a:solidFill>
                <a:latin typeface="Roboto"/>
                <a:ea typeface="Roboto"/>
                <a:cs typeface="Roboto"/>
                <a:sym typeface="Roboto"/>
              </a:rPr>
              <a:t>Chinese Character Formation · Mutually Explanatory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91200" y="5334000"/>
            <a:ext cx="609600" cy="609600"/>
          </a:xfrm>
          <a:prstGeom prst="roundRect">
            <a:avLst>
              <a:gd name="adj" fmla="val 0"/>
            </a:avLst>
          </a:prstGeom>
          <a:solidFill>
            <a:srgbClr val="C02C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91200" y="5334000"/>
            <a:ext cx="609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完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{"Label":"1","ContentProducer":"001191110102MACQD9K64010000","ProduceID":"7661202164766362859","ReservedCode1":"","ContentPropagator":"","PropagateID":"","ReservedCode2":""}</vt:lpwstr>
  </property>
</Properties>
</file>