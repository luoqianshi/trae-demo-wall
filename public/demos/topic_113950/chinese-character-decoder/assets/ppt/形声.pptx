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notesSlides/notesSlide1.xml" Type="http://schemas.openxmlformats.org/officeDocument/2006/relationships/notesSlide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33" Target="notesSlides/notesSlide12.xml" Type="http://schemas.openxmlformats.org/officeDocument/2006/relationships/notesSlide"/><Relationship Id="rId34" Target="notesSlides/notesSlide13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这一页我们来明确今天的学习目标。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首先，我们需要深入了解什么是形声造字法，这是汉字造字法中非常重要且常见的一种。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其次，我们要学会如何准确地区分一个形声字中的形旁和声旁，理解它们各自的作用。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最后，我们将通过具体的案例，掌握3个具有代表性的经典形声字，通过实例来加深理解。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形声，是汉字“六书”中最重要的造字法之一。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正如定义所说，“以事为名，取譬相成”，它由两部分组成：一部分是形旁（义符），表示字的意义范畴；另一部分是声旁（声符），表示字的读音。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这种结构使得形声字兼具了表意和表音的功能，是汉字系统中数量最多的一类字。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这一页我们来深入了解形声字的核心特点。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形声字主要由两部分组成：形旁和声旁。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首先，形旁负责表示字的意思或范畴，它让我们能直观地理解这个字大概与什么有关。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其次，声旁则负责提示字的读音，帮助我们记忆发音。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值得注意的是，形声字在汉字中占据了绝对的主导地位，大约80%的汉字都属于形声字，这也是我们学习汉字时非常重要的规律。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大家好，今天我们来深入解析第一个汉字案例——“河”。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大家看屏幕中间这个大大的“河”字，它是一个非常典型的“形声字”。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我们可以把它拆成两部分来看：左边的三点水“氵”，用蓝色标出，这部分通常与水有关，代表了这个字的意思，也就是“形旁”；右边的“可”，用黄色标出，它提示了这个字的读音，也就是“声旁”。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形声字由表示意义范畴的意符（形旁）和表示声音类别的声符（声旁）组合而成。这是汉字中最常见的造字方式。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那么，现在请大家思考一下：在“河”这个字中，到底是哪半边代表意思，哪半边代表读音呢？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这一页我们来拆解“河”这个字。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大家看屏幕中间，“河”是一个典型的形声字。左边的三点水“氵”是形旁，表示这个字的意思与水有关；右边的“可”是声旁，表示这个字的读音与“可”相近。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通过这样的拆解，我们可以更直观地理解汉字的构造逻辑：形旁表意，声旁表音。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这一页我们来解析汉字“花”。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“花”是一个典型的形声字。左边的“艹”（草字头）是形旁，表示这个字的意思与植物有关；右边的“化”是声旁，提示这个字的读音与“化”相近。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通过形旁和声旁的组合，我们可以很容易地理解和记忆这个字的含义与读音。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这一页我们来探索汉字的构成规律。大家看屏幕中间的这几个字：河、湖、海、江。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大家有没有发现它们有什么共同点？没错，它们都有一个共同的部分——三点水“氵”。在汉字中，我们把这种表示字的意思的部分叫做“形旁”。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只要看到三点水，我们就可以大胆地猜测，这个字一定和水有关系。比如河流、湖泊、大海、江水，都是和水相关的自然事物。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掌握了这个规律，我们在学习新的汉字时，就能通过形旁来推测它的大致含义，这是学习汉字非常有效的方法。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同学们，我们来看这四个字：清、情、晴、请。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大家发现了吗？它们里面都有一个共同的部分——“青”。这个“青”不仅字形一样，而且它决定了这些字的读音都很接近，都读 qīng 的音。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我们把“青”叫做“声旁”，它的作用就是提示我们这个字的读音。而前面不同的偏旁，比如三点水、竖心旁、日字旁和言字旁，它们是“形旁”，告诉我们这个字的意思和什么有关。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掌握了这个规律，我们看到不认识的字，就可以通过声旁来猜测它的读音了！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这一页我们来拆解形声字的构成规律，其实很简单，只需要三步。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第一步，选形旁，它决定了这个字的意思范畴；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第二步，选声旁，它决定了这个字的读音；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第三步，把它们拼在一起，就构成了一个新的形声字。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简单来说，形声字就是一半表意，一半表音，这是汉字中最常见的造字方法。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同学们，我们来做两个关于形声字的小练习。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第一题，关于“河”字。大家看选项，形旁是表示意思的部分，“氵”代表水，所以A是正确答案。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第二题，关于“花”字。声旁主要是提示读音的，所以选B。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通过这两个例子，我们可以更好地理解形声字的构成规律。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我们来回顾一下今天课程的重点。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首先，我们深入了解了形声字的构造原理：它由形旁和声旁两部分组成，形旁负责表意，声旁负责表音。这是汉字中非常重要的造字法。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接着，我们通过“河、花、清、情”这些经典案例，具体看到了形旁（如三点水、草字头）如何提示字义范畴，声旁如何提示读音线索。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最后，掌握形声字的规律对于大家学习汉字有巨大的优势，它能帮助我们快速猜测生字的意思和读音，是高效识字的金钥匙。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感谢大家的聆听，今天我们一起探索了汉字六书中的形声造字法，感受了汉字的独特魅力与深厚底蕴。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2667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 spc="4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形声造字法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40640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555555"/>
                </a:solidFill>
                <a:latin typeface="Poppins"/>
                <a:ea typeface="Poppins"/>
                <a:cs typeface="Poppins"/>
                <a:sym typeface="Poppins"/>
              </a:rPr>
              <a:t>Picto-phonetic Characters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5080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 spc="200">
                <a:solidFill>
                  <a:srgbClr val="888888"/>
                </a:solidFill>
                <a:latin typeface="Noto Serif SC"/>
                <a:ea typeface="Noto Serif SC"/>
                <a:cs typeface="Noto Serif SC"/>
                <a:sym typeface="Noto Serif SC"/>
              </a:rPr>
              <a:t>汉字六书 · 对外汉语教学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0" y="5842000"/>
            <a:ext cx="762000" cy="762000"/>
          </a:xfrm>
          <a:prstGeom prst="roundRect">
            <a:avLst>
              <a:gd name="adj" fmla="val 0"/>
            </a:avLst>
          </a:prstGeom>
          <a:solidFill>
            <a:srgbClr val="AC2A2A">
              <a:alpha val="100000"/>
            </a:srgbClr>
          </a:solidFill>
          <a:ln cmpd="sng" cap="flat">
            <a:solidFill>
              <a:srgbClr val="931515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5842000"/>
            <a:ext cx="76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六书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156754" y="143256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学习目标 / Learning Objectives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040743" y="3375660"/>
            <a:ext cx="177800" cy="177800"/>
          </a:xfrm>
          <a:prstGeom prst="ellipse">
            <a:avLst/>
          </a:prstGeom>
          <a:solidFill>
            <a:srgbClr val="C0392B">
              <a:alpha val="100000"/>
            </a:srgbClr>
          </a:solidFill>
          <a:ln cmpd="sng" cap="flat">
            <a:solidFill>
              <a:srgbClr val="A72215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653246" y="3020060"/>
            <a:ext cx="736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了解形声造字法的定义</a:t>
            </a: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Understand picto-phonetic characters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040743" y="4391660"/>
            <a:ext cx="177800" cy="177800"/>
          </a:xfrm>
          <a:prstGeom prst="ellipse">
            <a:avLst/>
          </a:prstGeom>
          <a:solidFill>
            <a:srgbClr val="C0392B">
              <a:alpha val="100000"/>
            </a:srgbClr>
          </a:solidFill>
          <a:ln cmpd="sng" cap="flat">
            <a:solidFill>
              <a:srgbClr val="A72215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653246" y="4036060"/>
            <a:ext cx="736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区分形旁和声旁</a:t>
            </a: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Tell meaning part &amp; sound part apart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040743" y="5407660"/>
            <a:ext cx="177800" cy="177800"/>
          </a:xfrm>
          <a:prstGeom prst="ellipse">
            <a:avLst/>
          </a:prstGeom>
          <a:solidFill>
            <a:srgbClr val="C0392B">
              <a:alpha val="100000"/>
            </a:srgbClr>
          </a:solidFill>
          <a:ln cmpd="sng" cap="flat">
            <a:solidFill>
              <a:srgbClr val="A72215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653246" y="5052060"/>
            <a:ext cx="7366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0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掌握3个经典形声字</a:t>
            </a:r>
            <a: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20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Master 3 classic examples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1016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0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什么是形声？/ What is Picto-phonetic?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524000" y="2413000"/>
            <a:ext cx="9144000" cy="2540000"/>
          </a:xfrm>
          <a:prstGeom prst="roundRect">
            <a:avLst>
              <a:gd name="adj" fmla="val 6000"/>
            </a:avLst>
          </a:prstGeom>
          <a:solidFill>
            <a:srgbClr val="EEEE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778000" y="2921000"/>
            <a:ext cx="863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以事为名，取譬相成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778000" y="3873500"/>
            <a:ext cx="863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25252"/>
                </a:solidFill>
                <a:latin typeface="Poppins"/>
                <a:ea typeface="Poppins"/>
                <a:cs typeface="Poppins"/>
                <a:sym typeface="Poppins"/>
              </a:rPr>
              <a:t>One part shows meaning, the other shows sound.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524000" y="5334000"/>
            <a:ext cx="914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600">
                <a:solidFill>
                  <a:srgbClr val="757575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一半表意，一半表音 /</a:t>
            </a:r>
            <a:r>
              <a:rPr lang="en-US" b="false" i="false" strike="noStrike" u="none" sz="1600">
                <a:solidFill>
                  <a:srgbClr val="757575"/>
                </a:solidFill>
                <a:latin typeface="Poppins"/>
                <a:ea typeface="Poppins"/>
                <a:cs typeface="Poppins"/>
                <a:sym typeface="Poppins"/>
              </a:rPr>
              <a:t>Half = meaning, half = sound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8255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形声的特点 / Features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302000" y="2730500"/>
            <a:ext cx="254000" cy="254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cmpd="sng" cap="flat">
            <a:solidFill>
              <a:srgbClr val="1F67DD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937000" y="2603500"/>
            <a:ext cx="685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2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形旁 = 表意思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Meaning part = meaning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302000" y="4000500"/>
            <a:ext cx="254000" cy="254000"/>
          </a:xfrm>
          <a:prstGeom prst="roundRect">
            <a:avLst>
              <a:gd name="adj" fmla="val 0"/>
            </a:avLst>
          </a:prstGeom>
          <a:solidFill>
            <a:srgbClr val="EAB308">
              <a:alpha val="100000"/>
            </a:srgbClr>
          </a:solidFill>
          <a:ln cmpd="sng" cap="flat">
            <a:solidFill>
              <a:srgbClr val="D19E0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937000" y="3873500"/>
            <a:ext cx="685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2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声旁 = 表读音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Sound part = pronunciation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302000" y="5270500"/>
            <a:ext cx="254000" cy="2540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cmpd="sng" cap="flat">
            <a:solidFill>
              <a:srgbClr val="D52727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937000" y="5143500"/>
            <a:ext cx="685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2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80%的汉字都是形声字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80% of Chinese characters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016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案例一：河 hé / Case 1: hé (river)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826000" y="2540000"/>
            <a:ext cx="152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7200">
                <a:solidFill>
                  <a:srgbClr val="4472C4"/>
                </a:solidFill>
                <a:latin typeface="Kaiti SC"/>
                <a:ea typeface="Kaiti SC"/>
                <a:cs typeface="Kaiti SC"/>
                <a:sym typeface="Kaiti SC"/>
              </a:rPr>
              <a:t>氵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858000" y="2540000"/>
            <a:ext cx="152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7200">
                <a:solidFill>
                  <a:srgbClr val="D97706"/>
                </a:solidFill>
                <a:latin typeface="Kaiti SC"/>
                <a:ea typeface="Kaiti SC"/>
                <a:cs typeface="Kaiti SC"/>
                <a:sym typeface="Kaiti SC"/>
              </a:rPr>
              <a:t>可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4572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rPr>
              <a:t>形声字 Picto-phonetic Character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5334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66666"/>
                </a:solidFill>
                <a:latin typeface="Noto Serif SC"/>
                <a:ea typeface="Noto Serif SC"/>
                <a:cs typeface="Noto Serif SC"/>
                <a:sym typeface="Noto Serif SC"/>
              </a:rPr>
              <a:t>哪半边表意？哪半边表音？</a:t>
            </a:r>
            <a:r>
              <a:rPr lang="en-US" b="false" i="false" strike="noStrike" u="none" sz="16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Which half means? Which sounds?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F5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635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00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河：水+可 = 河 / Water + Sound = River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651000" y="2286000"/>
            <a:ext cx="3048000" cy="2286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cmpd="sng" cap="flat">
            <a:solidFill>
              <a:srgbClr val="1F67DD">
                <a:alpha val="1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651000" y="2667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3B82F6"/>
                </a:solidFill>
                <a:latin typeface="Noto Serif SC"/>
                <a:ea typeface="Noto Serif SC"/>
                <a:cs typeface="Noto Serif SC"/>
                <a:sym typeface="Noto Serif SC"/>
              </a:rPr>
              <a:t>氵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651000" y="3810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1E40AF"/>
                </a:solidFill>
                <a:latin typeface="Noto Serif SC"/>
                <a:ea typeface="Noto Serif SC"/>
                <a:cs typeface="Noto Serif SC"/>
                <a:sym typeface="Noto Serif SC"/>
              </a:rPr>
              <a:t>形旁：氵（水）/ Meaning: water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0" y="3048000"/>
            <a:ext cx="101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DC2626"/>
                </a:solidFill>
                <a:latin typeface="Noto Serif SC"/>
                <a:ea typeface="Noto Serif SC"/>
                <a:cs typeface="Noto Serif SC"/>
                <a:sym typeface="Noto Serif SC"/>
              </a:rPr>
              <a:t>+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493000" y="2286000"/>
            <a:ext cx="3048000" cy="2286000"/>
          </a:xfrm>
          <a:prstGeom prst="roundRect">
            <a:avLst>
              <a:gd name="adj" fmla="val 0"/>
            </a:avLst>
          </a:prstGeom>
          <a:solidFill>
            <a:srgbClr val="F59E0B">
              <a:alpha val="10000"/>
            </a:srgbClr>
          </a:solidFill>
          <a:ln cmpd="sng" cap="flat">
            <a:solidFill>
              <a:srgbClr val="DC8A00">
                <a:alpha val="1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493000" y="26670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D97706"/>
                </a:solidFill>
                <a:latin typeface="Noto Serif SC"/>
                <a:ea typeface="Noto Serif SC"/>
                <a:cs typeface="Noto Serif SC"/>
                <a:sym typeface="Noto Serif SC"/>
              </a:rPr>
              <a:t>可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493000" y="3810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B45309"/>
                </a:solidFill>
                <a:latin typeface="Noto Serif SC"/>
                <a:ea typeface="Noto Serif SC"/>
                <a:cs typeface="Noto Serif SC"/>
                <a:sym typeface="Noto Serif SC"/>
              </a:rPr>
              <a:t>声旁：可 / Sound: kě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0" y="5080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6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=</a:t>
            </a:r>
            <a:r>
              <a:rPr lang="en-US" b="true" i="false" strike="noStrike" u="none" sz="5200">
                <a:solidFill>
                  <a:srgbClr val="111827"/>
                </a:solidFill>
                <a:latin typeface="Kaiti SC"/>
                <a:ea typeface="Kaiti SC"/>
                <a:cs typeface="Kaiti SC"/>
                <a:sym typeface="Kaiti SC"/>
              </a:rPr>
              <a:t>河</a:t>
            </a:r>
            <a:r>
              <a:rPr lang="en-US" b="false" i="false" strike="noStrike" u="none" sz="22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/ hé river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0" y="61595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erif SC"/>
                <a:ea typeface="Noto Serif SC"/>
                <a:cs typeface="Noto Serif SC"/>
                <a:sym typeface="Noto Serif SC"/>
              </a:rPr>
              <a:t>和水有关，读音像“可” / Related to water, sounds like kě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9525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8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案例二：花 huā / Case 2: huā (flower)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032000" y="27305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2200">
                <a:solidFill>
                  <a:srgbClr val="2563EB"/>
                </a:solidFill>
                <a:latin typeface="Noto Serif SC"/>
                <a:ea typeface="Noto Serif SC"/>
                <a:cs typeface="Noto Serif SC"/>
                <a:sym typeface="Noto Serif SC"/>
              </a:rPr>
              <a:t>形旁：艹（草）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Meaning: plant</a:t>
            </a:r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0" y="2730500"/>
            <a:ext cx="101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DC2626"/>
                </a:solidFill>
                <a:latin typeface="Noto Serif SC"/>
                <a:ea typeface="Noto Serif SC"/>
                <a:cs typeface="Noto Serif SC"/>
                <a:sym typeface="Noto Serif SC"/>
              </a:rPr>
              <a:t>+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350000" y="2730500"/>
            <a:ext cx="2794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2200">
                <a:solidFill>
                  <a:srgbClr val="D97706"/>
                </a:solidFill>
                <a:latin typeface="Noto Serif SC"/>
                <a:ea typeface="Noto Serif SC"/>
                <a:cs typeface="Noto Serif SC"/>
                <a:sym typeface="Noto Serif SC"/>
              </a:rPr>
              <a:t>声旁：化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16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Sound: huà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937000" y="4254500"/>
            <a:ext cx="101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6B7280"/>
                </a:solidFill>
                <a:latin typeface="Noto Serif SC"/>
                <a:ea typeface="Noto Serif SC"/>
                <a:cs typeface="Noto Serif SC"/>
                <a:sym typeface="Noto Serif SC"/>
              </a:rPr>
              <a:t>=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334000" y="4191000"/>
            <a:ext cx="127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1F2329"/>
                </a:solidFill>
                <a:latin typeface="Kaiti SC"/>
                <a:ea typeface="Kaiti SC"/>
                <a:cs typeface="Kaiti SC"/>
                <a:sym typeface="Kaiti SC"/>
              </a:rPr>
              <a:t>花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985000" y="4381500"/>
            <a:ext cx="304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huā · flower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" y="5270500"/>
            <a:ext cx="1092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erif SC"/>
                <a:ea typeface="Noto Serif SC"/>
                <a:cs typeface="Noto Serif SC"/>
                <a:sym typeface="Noto Serif SC"/>
              </a:rPr>
              <a:t>和植物有关，读音像“化” / Related to plants, sounds like huà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143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找规律：氵都和水有关 / Pattern: 氵 = Water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270000" y="2794000"/>
            <a:ext cx="2032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270000" y="2794000"/>
            <a:ext cx="2032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400">
                <a:solidFill>
                  <a:srgbClr val="2563EB"/>
                </a:solidFill>
                <a:latin typeface="Noto Serif SC"/>
                <a:ea typeface="Noto Serif SC"/>
                <a:cs typeface="Noto Serif SC"/>
                <a:sym typeface="Noto Serif SC"/>
              </a:rPr>
              <a:t>氵</a:t>
            </a:r>
            <a:r>
              <a:rPr lang="en-US" b="true" i="false" strike="noStrike" u="none" sz="4400">
                <a:solidFill>
                  <a:srgbClr val="EAB308"/>
                </a:solidFill>
                <a:latin typeface="Noto Serif SC"/>
                <a:ea typeface="Noto Serif SC"/>
                <a:cs typeface="Noto Serif SC"/>
                <a:sym typeface="Noto Serif SC"/>
              </a:rPr>
              <a:t>可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810000" y="2794000"/>
            <a:ext cx="2032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810000" y="2794000"/>
            <a:ext cx="2032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400">
                <a:solidFill>
                  <a:srgbClr val="2563EB"/>
                </a:solidFill>
                <a:latin typeface="Noto Serif SC"/>
                <a:ea typeface="Noto Serif SC"/>
                <a:cs typeface="Noto Serif SC"/>
                <a:sym typeface="Noto Serif SC"/>
              </a:rPr>
              <a:t>氵</a:t>
            </a:r>
            <a:r>
              <a:rPr lang="en-US" b="true" i="false" strike="noStrike" u="none" sz="4400">
                <a:solidFill>
                  <a:srgbClr val="EAB308"/>
                </a:solidFill>
                <a:latin typeface="Noto Serif SC"/>
                <a:ea typeface="Noto Serif SC"/>
                <a:cs typeface="Noto Serif SC"/>
                <a:sym typeface="Noto Serif SC"/>
              </a:rPr>
              <a:t>胡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50000" y="2794000"/>
            <a:ext cx="2032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2794000"/>
            <a:ext cx="2032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400">
                <a:solidFill>
                  <a:srgbClr val="2563EB"/>
                </a:solidFill>
                <a:latin typeface="Noto Serif SC"/>
                <a:ea typeface="Noto Serif SC"/>
                <a:cs typeface="Noto Serif SC"/>
                <a:sym typeface="Noto Serif SC"/>
              </a:rPr>
              <a:t>氵</a:t>
            </a:r>
            <a:r>
              <a:rPr lang="en-US" b="true" i="false" strike="noStrike" u="none" sz="4400">
                <a:solidFill>
                  <a:srgbClr val="EAB308"/>
                </a:solidFill>
                <a:latin typeface="Noto Serif SC"/>
                <a:ea typeface="Noto Serif SC"/>
                <a:cs typeface="Noto Serif SC"/>
                <a:sym typeface="Noto Serif SC"/>
              </a:rPr>
              <a:t>每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0" y="2794000"/>
            <a:ext cx="20320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0" y="2794000"/>
            <a:ext cx="2032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4400">
                <a:solidFill>
                  <a:srgbClr val="2563EB"/>
                </a:solidFill>
                <a:latin typeface="Noto Serif SC"/>
                <a:ea typeface="Noto Serif SC"/>
                <a:cs typeface="Noto Serif SC"/>
                <a:sym typeface="Noto Serif SC"/>
              </a:rPr>
              <a:t>氵</a:t>
            </a:r>
            <a:r>
              <a:rPr lang="en-US" b="true" i="false" strike="noStrike" u="none" sz="4400">
                <a:solidFill>
                  <a:srgbClr val="EAB308"/>
                </a:solidFill>
                <a:latin typeface="Noto Serif SC"/>
                <a:ea typeface="Noto Serif SC"/>
                <a:cs typeface="Noto Serif SC"/>
                <a:sym typeface="Noto Serif SC"/>
              </a:rPr>
              <a:t>工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5334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只要看到氵，就知道和水有关</a:t>
            </a:r>
            <a:r>
              <a:rPr lang="en-US" b="false" i="false" strike="noStrike" u="none" sz="1800">
                <a:solidFill>
                  <a:srgbClr val="333333"/>
                </a:solidFill>
                <a:latin typeface="Poppins"/>
                <a:ea typeface="Poppins"/>
                <a:cs typeface="Poppins"/>
                <a:sym typeface="Poppins"/>
              </a:rPr>
              <a:t>/ See 氵, know it's about water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6032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erif SC"/>
                <a:ea typeface="Noto Serif SC"/>
                <a:cs typeface="Noto Serif SC"/>
                <a:sym typeface="Noto Serif SC"/>
              </a:rPr>
              <a:t>形旁帮助理解意思</a:t>
            </a:r>
            <a:r>
              <a:rPr lang="en-US" b="false" i="false" strike="noStrike" u="none" sz="14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/ Meaning parts help you guess meaning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1143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找规律：青 读音相近 / Pattern: 青 = Similar Sound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667000"/>
            <a:ext cx="2413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3048000"/>
            <a:ext cx="241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3B82F6"/>
                </a:solidFill>
                <a:latin typeface="Noto Serif SC"/>
                <a:ea typeface="Noto Serif SC"/>
                <a:cs typeface="Noto Serif SC"/>
                <a:sym typeface="Noto Serif SC"/>
              </a:rPr>
              <a:t>氵</a:t>
            </a:r>
            <a:r>
              <a:rPr lang="en-US" b="true" i="false" strike="noStrike" u="none" sz="4400">
                <a:solidFill>
                  <a:srgbClr val="EAB308"/>
                </a:solidFill>
                <a:latin typeface="Noto Serif SC"/>
                <a:ea typeface="Noto Serif SC"/>
                <a:cs typeface="Noto Serif SC"/>
                <a:sym typeface="Noto Serif SC"/>
              </a:rPr>
              <a:t>青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42545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erif SC"/>
                <a:ea typeface="Noto Serif SC"/>
                <a:cs typeface="Noto Serif SC"/>
                <a:sym typeface="Noto Serif SC"/>
              </a:rPr>
              <a:t>清水 (Clear Water) · 与水相关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556000" y="2667000"/>
            <a:ext cx="2413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556000" y="3048000"/>
            <a:ext cx="241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EF4444"/>
                </a:solidFill>
                <a:latin typeface="Noto Serif SC"/>
                <a:ea typeface="Noto Serif SC"/>
                <a:cs typeface="Noto Serif SC"/>
                <a:sym typeface="Noto Serif SC"/>
              </a:rPr>
              <a:t>忄</a:t>
            </a:r>
            <a:r>
              <a:rPr lang="en-US" b="true" i="false" strike="noStrike" u="none" sz="4400">
                <a:solidFill>
                  <a:srgbClr val="EAB308"/>
                </a:solidFill>
                <a:latin typeface="Noto Serif SC"/>
                <a:ea typeface="Noto Serif SC"/>
                <a:cs typeface="Noto Serif SC"/>
                <a:sym typeface="Noto Serif SC"/>
              </a:rPr>
              <a:t>青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556000" y="42545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erif SC"/>
                <a:ea typeface="Noto Serif SC"/>
                <a:cs typeface="Noto Serif SC"/>
                <a:sym typeface="Noto Serif SC"/>
              </a:rPr>
              <a:t>心情 (Feeling) · 与心理相关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2667000"/>
            <a:ext cx="2413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3048000"/>
            <a:ext cx="241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F97316"/>
                </a:solidFill>
                <a:latin typeface="Noto Serif SC"/>
                <a:ea typeface="Noto Serif SC"/>
                <a:cs typeface="Noto Serif SC"/>
                <a:sym typeface="Noto Serif SC"/>
              </a:rPr>
              <a:t>日</a:t>
            </a:r>
            <a:r>
              <a:rPr lang="en-US" b="true" i="false" strike="noStrike" u="none" sz="4400">
                <a:solidFill>
                  <a:srgbClr val="EAB308"/>
                </a:solidFill>
                <a:latin typeface="Noto Serif SC"/>
                <a:ea typeface="Noto Serif SC"/>
                <a:cs typeface="Noto Serif SC"/>
                <a:sym typeface="Noto Serif SC"/>
              </a:rPr>
              <a:t>青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42545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erif SC"/>
                <a:ea typeface="Noto Serif SC"/>
                <a:cs typeface="Noto Serif SC"/>
                <a:sym typeface="Noto Serif SC"/>
              </a:rPr>
              <a:t>晴天 (Sunny) · 与太阳相关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144000" y="2667000"/>
            <a:ext cx="2413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144000" y="3048000"/>
            <a:ext cx="241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22C55E"/>
                </a:solidFill>
                <a:latin typeface="Noto Serif SC"/>
                <a:ea typeface="Noto Serif SC"/>
                <a:cs typeface="Noto Serif SC"/>
                <a:sym typeface="Noto Serif SC"/>
              </a:rPr>
              <a:t>讠</a:t>
            </a:r>
            <a:r>
              <a:rPr lang="en-US" b="true" i="false" strike="noStrike" u="none" sz="4400">
                <a:solidFill>
                  <a:srgbClr val="EAB308"/>
                </a:solidFill>
                <a:latin typeface="Noto Serif SC"/>
                <a:ea typeface="Noto Serif SC"/>
                <a:cs typeface="Noto Serif SC"/>
                <a:sym typeface="Noto Serif SC"/>
              </a:rPr>
              <a:t>青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144000" y="42545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erif SC"/>
                <a:ea typeface="Noto Serif SC"/>
                <a:cs typeface="Noto Serif SC"/>
                <a:sym typeface="Noto Serif SC"/>
              </a:rPr>
              <a:t>请客 (Invite) · 与说话相关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8000" y="5461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374151"/>
                </a:solidFill>
                <a:latin typeface="Noto Serif SC"/>
                <a:ea typeface="Noto Serif SC"/>
                <a:cs typeface="Noto Serif SC"/>
                <a:sym typeface="Noto Serif SC"/>
              </a:rPr>
              <a:t>都有“青”，读音都很像 qīng /</a:t>
            </a:r>
            <a:r>
              <a:rPr lang="en-US" b="false" i="false" strike="noStrike" u="none" sz="1600">
                <a:solidFill>
                  <a:srgbClr val="374151"/>
                </a:solidFill>
                <a:latin typeface="Poppins"/>
                <a:ea typeface="Poppins"/>
                <a:cs typeface="Poppins"/>
                <a:sym typeface="Poppins"/>
              </a:rPr>
              <a:t>All have 青, all sound like qīng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08000" y="6096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erif SC"/>
                <a:ea typeface="Noto Serif SC"/>
                <a:cs typeface="Noto Serif SC"/>
                <a:sym typeface="Noto Serif SC"/>
              </a:rPr>
              <a:t>声旁帮助猜测读音 /</a:t>
            </a:r>
            <a:r>
              <a:rPr lang="en-US" b="false" i="false" strike="noStrike" u="none" sz="1400">
                <a:solidFill>
                  <a:srgbClr val="6B7280"/>
                </a:solidFill>
                <a:latin typeface="Poppins"/>
                <a:ea typeface="Poppins"/>
                <a:cs typeface="Poppins"/>
                <a:sym typeface="Poppins"/>
              </a:rPr>
              <a:t>Sound parts help you guess pronunciation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101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形声三步走 / Three Steps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302000" y="2540000"/>
            <a:ext cx="711200" cy="711200"/>
          </a:xfrm>
          <a:prstGeom prst="ellipse">
            <a:avLst/>
          </a:prstGeom>
          <a:solidFill>
            <a:srgbClr val="969696">
              <a:alpha val="100000"/>
            </a:srgbClr>
          </a:solidFill>
          <a:ln cmpd="sng" cap="flat">
            <a:solidFill>
              <a:srgbClr val="7D707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3302000" y="2540000"/>
            <a:ext cx="711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1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318000" y="2476500"/>
            <a:ext cx="635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选形旁，定意思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Pick meaning part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892800" y="3683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3302000" y="4191000"/>
            <a:ext cx="711200" cy="711200"/>
          </a:xfrm>
          <a:prstGeom prst="ellipse">
            <a:avLst/>
          </a:prstGeom>
          <a:solidFill>
            <a:srgbClr val="969696">
              <a:alpha val="100000"/>
            </a:srgbClr>
          </a:solidFill>
          <a:ln cmpd="sng" cap="flat">
            <a:solidFill>
              <a:srgbClr val="7D707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302000" y="4191000"/>
            <a:ext cx="711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2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18000" y="4127500"/>
            <a:ext cx="635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选声旁，定读音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Pick sound part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302000" y="5207000"/>
            <a:ext cx="711200" cy="711200"/>
          </a:xfrm>
          <a:prstGeom prst="ellipse">
            <a:avLst/>
          </a:prstGeom>
          <a:solidFill>
            <a:srgbClr val="969696">
              <a:alpha val="100000"/>
            </a:srgbClr>
          </a:solidFill>
          <a:ln cmpd="sng" cap="flat">
            <a:solidFill>
              <a:srgbClr val="7D7070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302000" y="5207000"/>
            <a:ext cx="711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3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18000" y="5143500"/>
            <a:ext cx="635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2200">
                <a:solidFill>
                  <a:srgbClr val="333333"/>
                </a:solidFill>
                <a:latin typeface="Noto Serif SC"/>
                <a:ea typeface="Noto Serif SC"/>
                <a:cs typeface="Noto Serif SC"/>
                <a:sym typeface="Noto Serif SC"/>
              </a:rPr>
              <a:t>拼在一起成新字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Put together = new character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6286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C23531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一半表意一半表音，就是形声 / Half meaning, half sound — picto-phonetic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762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12121"/>
                </a:solidFill>
                <a:latin typeface="Noto Serif SC"/>
                <a:ea typeface="Noto Serif SC"/>
                <a:cs typeface="Noto Serif SC"/>
                <a:sym typeface="Noto Serif SC"/>
              </a:rPr>
              <a:t>小练习 / Quick Practice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5000" y="2032000"/>
            <a:ext cx="1092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DDDD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89000" y="2286000"/>
            <a:ext cx="1041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212121"/>
                </a:solidFill>
                <a:latin typeface="Noto Serif SC"/>
                <a:ea typeface="Noto Serif SC"/>
                <a:cs typeface="Noto Serif SC"/>
                <a:sym typeface="Noto Serif SC"/>
              </a:rPr>
              <a:t>01. 「河」的形旁是？ / Which is the meaning part of 河?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3048000"/>
            <a:ext cx="1041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A. 氵 (water) B. 可 (kě) C. 河 (the whole character)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5000" y="4318000"/>
            <a:ext cx="1092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DDDDD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4572000"/>
            <a:ext cx="1041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212121"/>
                </a:solidFill>
                <a:latin typeface="Noto Serif SC"/>
                <a:ea typeface="Noto Serif SC"/>
                <a:cs typeface="Noto Serif SC"/>
                <a:sym typeface="Noto Serif SC"/>
              </a:rPr>
              <a:t>02. 「花」的声旁表示？ / What does the sound part of 花 show?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5334000"/>
            <a:ext cx="1041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A. 意思 (meaning) B. 读音 (pronunciation) C. 颜色 (color)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0" y="6477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757575"/>
                </a:solidFill>
                <a:latin typeface="Noto Serif SC"/>
                <a:ea typeface="Noto Serif SC"/>
                <a:cs typeface="Noto Serif SC"/>
                <a:sym typeface="Noto Serif SC"/>
              </a:rPr>
              <a:t>答案：1.A 2.B / Answers: 1.A 2.B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" y="6985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本课总结 / Summary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324100" y="2476500"/>
            <a:ext cx="177800" cy="177800"/>
          </a:xfrm>
          <a:prstGeom prst="roundRect">
            <a:avLst>
              <a:gd name="adj" fmla="val 0"/>
            </a:avLst>
          </a:prstGeom>
          <a:solidFill>
            <a:srgbClr val="AC3939">
              <a:alpha val="100000"/>
            </a:srgbClr>
          </a:solidFill>
          <a:ln cmpd="sng" cap="flat">
            <a:solidFill>
              <a:srgbClr val="932222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755900" y="2349500"/>
            <a:ext cx="762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2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形声：形旁表意，声旁表音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800">
                <a:solidFill>
                  <a:srgbClr val="646464"/>
                </a:solidFill>
                <a:latin typeface="Poppins"/>
                <a:ea typeface="Poppins"/>
                <a:cs typeface="Poppins"/>
                <a:sym typeface="Poppins"/>
              </a:rPr>
              <a:t>Picto-phonetic: meaning + sound parts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324100" y="3873500"/>
            <a:ext cx="177800" cy="177800"/>
          </a:xfrm>
          <a:prstGeom prst="roundRect">
            <a:avLst>
              <a:gd name="adj" fmla="val 0"/>
            </a:avLst>
          </a:prstGeom>
          <a:solidFill>
            <a:srgbClr val="AC3939">
              <a:alpha val="100000"/>
            </a:srgbClr>
          </a:solidFill>
          <a:ln cmpd="sng" cap="flat">
            <a:solidFill>
              <a:srgbClr val="932222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755900" y="3746500"/>
            <a:ext cx="762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2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经典案例：河、花、清、情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800">
                <a:solidFill>
                  <a:srgbClr val="646464"/>
                </a:solidFill>
                <a:latin typeface="Poppins"/>
                <a:ea typeface="Poppins"/>
                <a:cs typeface="Poppins"/>
                <a:sym typeface="Poppins"/>
              </a:rPr>
              <a:t>Examples: river, flower, clear, feeling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324100" y="5270500"/>
            <a:ext cx="177800" cy="177800"/>
          </a:xfrm>
          <a:prstGeom prst="roundRect">
            <a:avLst>
              <a:gd name="adj" fmla="val 0"/>
            </a:avLst>
          </a:prstGeom>
          <a:solidFill>
            <a:srgbClr val="AC3939">
              <a:alpha val="100000"/>
            </a:srgbClr>
          </a:solidFill>
          <a:ln cmpd="sng" cap="flat">
            <a:solidFill>
              <a:srgbClr val="932222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755900" y="5143500"/>
            <a:ext cx="762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200">
                <a:solidFill>
                  <a:srgbClr val="1F2329"/>
                </a:solidFill>
                <a:latin typeface="Noto Serif SC"/>
                <a:ea typeface="Noto Serif SC"/>
                <a:cs typeface="Noto Serif SC"/>
                <a:sym typeface="Noto Serif SC"/>
              </a:rPr>
              <a:t>优势：帮助猜意思猜读音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800">
                <a:solidFill>
                  <a:srgbClr val="646464"/>
                </a:solidFill>
                <a:latin typeface="Poppins"/>
                <a:ea typeface="Poppins"/>
                <a:cs typeface="Poppins"/>
                <a:sym typeface="Poppins"/>
              </a:rPr>
              <a:t>Advantage: helps guess meaning &amp; sound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26035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4000" spc="200">
                <a:solidFill>
                  <a:srgbClr val="212121"/>
                </a:solidFill>
                <a:latin typeface="Noto Serif SC"/>
                <a:ea typeface="Noto Serif SC"/>
                <a:cs typeface="Noto Serif SC"/>
                <a:sym typeface="Noto Serif SC"/>
              </a:rPr>
              <a:t>谢谢观看 / Thank You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41275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595959"/>
                </a:solidFill>
                <a:latin typeface="Noto Serif SC"/>
                <a:ea typeface="Noto Serif SC"/>
                <a:cs typeface="Noto Serif SC"/>
                <a:sym typeface="Noto Serif SC"/>
              </a:rPr>
              <a:t>汉字六书·形声造字法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4953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rPr>
              <a:t>Chinese Character Formation · Picto-phonetic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842000" y="5778500"/>
            <a:ext cx="508000" cy="508000"/>
          </a:xfrm>
          <a:prstGeom prst="roundRect">
            <a:avLst>
              <a:gd name="adj" fmla="val 0"/>
            </a:avLst>
          </a:prstGeom>
          <a:solidFill>
            <a:srgbClr val="B22222">
              <a:alpha val="100000"/>
            </a:srgbClr>
          </a:solidFill>
          <a:ln cmpd="sng" cap="flat">
            <a:solidFill>
              <a:srgbClr val="990E0E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842000" y="5778500"/>
            <a:ext cx="50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完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{"Label":"1","ContentProducer":"001191110102MACQD9K64010000","ProduceID":"7661190177596017873","ReservedCode1":"","ContentPropagator":"","PropagateID":"","ReservedCode2":""}</vt:lpwstr>
  </property>
</Properties>
</file>