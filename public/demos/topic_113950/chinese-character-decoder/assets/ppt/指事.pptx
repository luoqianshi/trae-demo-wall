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各位同学大家好，今天我们来深入探讨汉字造字法中的“指事”。作为汉字六书之一，指事法通过抽象的符号来表示意义，是汉字构形中非常独特且重要的一环。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同学们，今天我们的学习目标主要有三个：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首先，我们要深入了解“指事”这种汉字造字法的核心定义，明白它是如何通过象征性的符号来表示抽象概念的。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其次，我们将重点掌握两组非常经典的指事字，通过具体的案例来理解其构字逻辑。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最后，大家需要具备识别指事符号的能力，能够在不同的汉字中辨认出这些具有指示意义的标志性符号。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让我们带着这些目标，开始今天的汉字探索之旅。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这一页我们来深入理解“指事”的定义。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古人对指事的解释是“视而可识，察而见意”。意思是，看到这个字形，就能认识它的大致轮廓；仔细观察，就能领会它所表达的意义。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指事字通常是在象形的基础上，加上指示性的符号，用来标记那些比较抽象的概念或位置，比如“上”、“下”、“本”、“末”等。它是汉字造字法中非常独特的一种，体现了从具象到抽象的思维跨越。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这一页我们来深入了解“指事”造字法的核心特点。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首先，指事字通常是在象形字的基础上增加一个符号标记。这个符号起到了点睛的作用，让原本具象的图形有了新的含义。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其次，它主要用来表达一些抽象的位置概念，比如上下、本末，这些是无法单纯通过描绘形状来表达的。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最后，请大家记住，那个额外添加的符号是指事字的关键，它往往决定了字的最终意义。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这一页我们进入第一个案例的学习，来看看汉字“上”的起源。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大家看到屏幕中间的这个图案，这就是“上”字最早的形态——甲骨文。它由两条横线组成，一条长的横线作为基准线，一条短的横线加在它的上方。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这种构字方式非常直观，通过位置的上下关系来表达“上”的概念。这种象形的思维方式是汉字造字的基础。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这一页我们来深入解析汉字“上”的起源。大家看到的这个符号，是“上”的甲骨文形态。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它由两部分组成：下方的黑色长横线代表一条基准线，也就是baseline，确立了一个参照的平面；而上方红色的短横线，则是一个指事符号，它明确地指示了位置——在基准线之上。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这种用简单的符号在基准线上指示方位的造字方法，就是指事造字法。短横在上面，就表示“上”这个方位概念。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这一页我们来深入解析“上”与“下”的甲骨文字形对比。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大家看左边，甲骨文的“上”字，是由一条长横作为基准线，上面加一条短横来表示。这个短横的位置直接决定了它的含义——在基准线之上，也就是高处。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再看右边，“下”字的构造逻辑完全一致，只是短横被移到了长横基准线的下方。这种简单的位置变换，直观地表达了“在基准线之下”的空间概念。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这种以基准线和指示性短横来表示方位的造字法，体现了古人对空间方位最朴素也最直观的认知。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这一页我们通过直观的图形来理解“本”与“末”的含义。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左边的“本”字，在字形上就像一棵树木，根部被特别加上了红色的标记。这象征着事物的根基、本源和根本。在理解和处理问题时，我们强调要“追本溯源”，抓住根本。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右边的“末”字，同样是一棵树的形象，但红色标记移到了树梢的位置。这代表了事物的末梢、细枝末节。这提醒我们要警惕“舍本逐末”，不要只关注表面的、次要的东西而忽略了本质。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通过这种字形与图形的结合，我们可以更深刻地体会到汉字造字的智慧，以及这两个概念在哲学和生活中的辩证关系。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探讨“本”与“末”的区别。这两个字都源于“木”，代表树木，但仅仅因为标记的位置不同——一个在根部，一个在梢部——含义就发生了根本性的变化。这不仅是汉字造字的智慧，也引申出了我们常说的成语：追本溯源，意味着寻找事物的根本；而本末倒置，则是提醒我们不要混淆主次，颠倒了事物的轻重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这一页我们来拆解“指事”的造字逻辑。它的核心在于“加符号”。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第一步，基础是象形字，先有一个具体的图形作为底子；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第二步，在这个象形字的基础上，加上一个简单的符号，用来指示位置或者强调特征；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第三步，通过这种组合，产生了一个新的字形，也赋予了它新的含义。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所以简单来说，“指事”就是在象形的基础上，加个符号来表意。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同学们，我们来做两个小练习巩固一下刚才学到的知识。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第一题，关于“下”这个字。大家观察它的结构，那短短的一横在什么位置呢？是在上面、下面还是中间？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第二题，“本”字的字形结构是在“木”的根部加了一横作为标记。所以这个红色的标记代表的是树的哪个部分？是树根、树梢还是树叶？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这两道题可以帮助大家更好地理解汉字的构字逻辑。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同学们，这节课我们主要学习了“指事”这一造字法。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首先，我们明确了指事字的定义：它是在象形字的基础上增加指示性符号来构成新字。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然后，我们通过“上、下、本、末”这些经典的例子，具体理解了指事字的构成逻辑。比如“本”字，就是在“木”（树）的根部加一横，指示树根的位置。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最后，大家要记住，指事字的关键特征就是通过特定的符号（比如我们今天提到的红色标记）来指示事物的具体位置或特征。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感谢大家的聆听。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2032000"/>
            <a:ext cx="1219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000" spc="800">
                <a:solidFill>
                  <a:srgbClr val="1A1A1A"/>
                </a:solidFill>
                <a:latin typeface="Noto Serif SC"/>
                <a:ea typeface="Noto Serif SC"/>
                <a:cs typeface="Noto Serif SC"/>
                <a:sym typeface="Noto Serif SC"/>
              </a:rPr>
              <a:t>指事造字法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3556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 spc="3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Indicative Characters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699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 spc="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汉字六书 · 对外汉语教学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13400" y="5486400"/>
            <a:ext cx="965200" cy="965200"/>
          </a:xfrm>
          <a:prstGeom prst="roundRect">
            <a:avLst>
              <a:gd name="adj" fmla="val 0"/>
            </a:avLst>
          </a:prstGeom>
          <a:solidFill>
            <a:srgbClr val="B42828">
              <a:alpha val="90000"/>
            </a:srgbClr>
          </a:solidFill>
          <a:ln w="25400" cmpd="sng" cap="flat">
            <a:solidFill>
              <a:srgbClr val="8C1E1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13400" y="5486400"/>
            <a:ext cx="9652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六书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0287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学习目标 / Learning Objectives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302000" y="2806700"/>
            <a:ext cx="177800" cy="177800"/>
          </a:xfrm>
          <a:prstGeom prst="ellipse">
            <a:avLst/>
          </a:prstGeom>
          <a:solidFill>
            <a:srgbClr val="C0302D">
              <a:alpha val="100000"/>
            </a:srgbClr>
          </a:solidFill>
          <a:ln cmpd="sng" cap="flat">
            <a:solidFill>
              <a:srgbClr val="A71916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683000" y="2654300"/>
            <a:ext cx="711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了解指事造字法的定义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Understand indicative characters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302000" y="3949700"/>
            <a:ext cx="177800" cy="177800"/>
          </a:xfrm>
          <a:prstGeom prst="ellipse">
            <a:avLst/>
          </a:prstGeom>
          <a:solidFill>
            <a:srgbClr val="C0302D">
              <a:alpha val="100000"/>
            </a:srgbClr>
          </a:solidFill>
          <a:ln cmpd="sng" cap="flat">
            <a:solidFill>
              <a:srgbClr val="A71916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683000" y="3797300"/>
            <a:ext cx="711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掌握两组经典指事字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Master two classic pairs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302000" y="5092700"/>
            <a:ext cx="177800" cy="177800"/>
          </a:xfrm>
          <a:prstGeom prst="ellipse">
            <a:avLst/>
          </a:prstGeom>
          <a:solidFill>
            <a:srgbClr val="C0302D">
              <a:alpha val="100000"/>
            </a:srgbClr>
          </a:solidFill>
          <a:ln cmpd="sng" cap="flat">
            <a:solidFill>
              <a:srgbClr val="A71916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683000" y="4940300"/>
            <a:ext cx="711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能认出指事符号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Recognize indicative marks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7620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什么是指事？/ What is Indicative?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2413000"/>
          </a:xfrm>
          <a:prstGeom prst="roundRect">
            <a:avLst>
              <a:gd name="adj" fmla="val 6315"/>
            </a:avLst>
          </a:prstGeom>
          <a:solidFill>
            <a:srgbClr val="D7D5CD">
              <a:alpha val="40000"/>
            </a:srgbClr>
          </a:solidFill>
          <a:ln w="12700" cmpd="sng" cap="flat">
            <a:solidFill>
              <a:srgbClr val="A8A49C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2667000"/>
            <a:ext cx="965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视而可识，察而见意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38735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525252"/>
                </a:solidFill>
                <a:latin typeface="Poppins"/>
                <a:ea typeface="Poppins"/>
                <a:cs typeface="Poppins"/>
                <a:sym typeface="Poppins"/>
              </a:rPr>
              <a:t>Look and recognize, examine and see the meaning.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52705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>用符号标记抽象位置</a:t>
            </a:r>
            <a:r>
              <a:rPr lang="en-US" b="false" i="false" strike="noStrike" u="none" sz="18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/ Use symbols to mark abstract positions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9525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指事的特点 / Features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302000" y="2527300"/>
            <a:ext cx="203200" cy="203200"/>
          </a:xfrm>
          <a:prstGeom prst="roundRect">
            <a:avLst>
              <a:gd name="adj" fmla="val 0"/>
            </a:avLst>
          </a:prstGeom>
          <a:solidFill>
            <a:srgbClr val="C2272D">
              <a:alpha val="100000"/>
            </a:srgbClr>
          </a:solidFill>
          <a:ln cmpd="sng" cap="flat">
            <a:solidFill>
              <a:srgbClr val="A9111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683000" y="2349500"/>
            <a:ext cx="571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象形字 + 符号标记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Pictograph + symbolic mark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302000" y="3797300"/>
            <a:ext cx="203200" cy="203200"/>
          </a:xfrm>
          <a:prstGeom prst="roundRect">
            <a:avLst>
              <a:gd name="adj" fmla="val 0"/>
            </a:avLst>
          </a:prstGeom>
          <a:solidFill>
            <a:srgbClr val="C2272D">
              <a:alpha val="100000"/>
            </a:srgbClr>
          </a:solidFill>
          <a:ln cmpd="sng" cap="flat">
            <a:solidFill>
              <a:srgbClr val="A9111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683000" y="3619500"/>
            <a:ext cx="571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表达抽象的位置概念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Express abstract positions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302000" y="5067300"/>
            <a:ext cx="203200" cy="203200"/>
          </a:xfrm>
          <a:prstGeom prst="roundRect">
            <a:avLst>
              <a:gd name="adj" fmla="val 0"/>
            </a:avLst>
          </a:prstGeom>
          <a:solidFill>
            <a:srgbClr val="C2272D">
              <a:alpha val="100000"/>
            </a:srgbClr>
          </a:solidFill>
          <a:ln cmpd="sng" cap="flat">
            <a:solidFill>
              <a:srgbClr val="A9111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683000" y="4889500"/>
            <a:ext cx="571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符号是关键，红色标出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The mark is the key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69669" y="1258389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案例一：上 shàng / Case 1: shàng (above)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264331" y="2919549"/>
            <a:ext cx="1524000" cy="76200"/>
          </a:xfrm>
          <a:prstGeom prst="roundRect">
            <a:avLst>
              <a:gd name="adj" fmla="val 0"/>
            </a:avLst>
          </a:prstGeom>
          <a:solidFill>
            <a:srgbClr val="222222">
              <a:alpha val="100000"/>
            </a:srgbClr>
          </a:solidFill>
          <a:ln cmpd="sng" cap="flat">
            <a:solidFill>
              <a:srgbClr val="09080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502331" y="3681549"/>
            <a:ext cx="3048000" cy="76200"/>
          </a:xfrm>
          <a:prstGeom prst="roundRect">
            <a:avLst>
              <a:gd name="adj" fmla="val 0"/>
            </a:avLst>
          </a:prstGeom>
          <a:solidFill>
            <a:srgbClr val="222222">
              <a:alpha val="100000"/>
            </a:srgbClr>
          </a:solidFill>
          <a:ln cmpd="sng" cap="flat">
            <a:solidFill>
              <a:srgbClr val="09080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-69669" y="4570549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甲骨文 Oracle Bone Script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-69669" y="5078549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757575"/>
                </a:solidFill>
                <a:latin typeface="Noto Serif SC"/>
                <a:ea typeface="Noto Serif SC"/>
                <a:cs typeface="Noto Serif SC"/>
                <a:sym typeface="Noto Serif SC"/>
              </a:rPr>
              <a:t>短横线在长横线的哪里？</a:t>
            </a:r>
            <a:r>
              <a:rPr lang="en-US" b="false" i="false" strike="noStrike" u="none" sz="1600">
                <a:solidFill>
                  <a:srgbClr val="757575"/>
                </a:solidFill>
                <a:latin typeface="Poppins"/>
                <a:ea typeface="Poppins"/>
                <a:cs typeface="Poppins"/>
                <a:sym typeface="Poppins"/>
              </a:rPr>
              <a:t>/ Where is the short line?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905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上：符号标记位置 / Mark the Position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207000" y="3556000"/>
            <a:ext cx="1778000" cy="1524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cmpd="sng" cap="flat">
            <a:solidFill>
              <a:srgbClr val="C30E0E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0" y="4191000"/>
            <a:ext cx="4572000" cy="152400"/>
          </a:xfrm>
          <a:prstGeom prst="roundRect">
            <a:avLst>
              <a:gd name="adj" fmla="val 0"/>
            </a:avLst>
          </a:prstGeom>
          <a:solidFill>
            <a:srgbClr val="1A1A1A">
              <a:alpha val="100000"/>
            </a:srgbClr>
          </a:solidFill>
          <a:ln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953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1A1A1A"/>
                </a:solidFill>
                <a:latin typeface="Noto Serif SC"/>
                <a:ea typeface="Noto Serif SC"/>
                <a:cs typeface="Noto Serif SC"/>
                <a:sym typeface="Noto Serif SC"/>
              </a:rPr>
              <a:t>长横线 = 基准线 / baseline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5715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DC2626"/>
                </a:solidFill>
                <a:latin typeface="Noto Serif SC"/>
                <a:ea typeface="Noto Serif SC"/>
                <a:cs typeface="Noto Serif SC"/>
                <a:sym typeface="Noto Serif SC"/>
              </a:rPr>
              <a:t>短横线 = 指事符号，表"上面" / indicative mark = above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6604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767676"/>
                </a:solidFill>
                <a:latin typeface="Noto Serif SC"/>
                <a:ea typeface="Noto Serif SC"/>
                <a:cs typeface="Noto Serif SC"/>
                <a:sym typeface="Noto Serif SC"/>
              </a:rPr>
              <a:t>短横在上面，就是"上" / Short line on top = "above"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508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对比：下 xià / Compare: xià (below)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5384373" flipH="false" flipV="false">
            <a:off x="4699000" y="3549664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2159000" y="2794000"/>
            <a:ext cx="2540000" cy="50800"/>
          </a:xfrm>
          <a:prstGeom prst="roundRect">
            <a:avLst>
              <a:gd name="adj" fmla="val 0"/>
            </a:avLst>
          </a:prstGeom>
          <a:solidFill>
            <a:srgbClr val="1F232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921000" y="241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CC333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34290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上 above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41910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以长横为基准线，短横标识于基准线之上，</a:t>
            </a:r>
            <a:r>
              <a:rPr lang="en-US" b="false" i="false" strike="noStrike" u="none" sz="15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5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false" i="false" strike="noStrike" u="none" sz="15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直观描绘出“位置在高处、上方”的空间概念。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493000" y="2794000"/>
            <a:ext cx="2540000" cy="50800"/>
          </a:xfrm>
          <a:prstGeom prst="roundRect">
            <a:avLst>
              <a:gd name="adj" fmla="val 0"/>
            </a:avLst>
          </a:prstGeom>
          <a:solidFill>
            <a:srgbClr val="1F232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255000" y="317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CC333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34290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下 below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41910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同样以长横为基准，短横标识于基准线之下，</a:t>
            </a:r>
            <a:r>
              <a:rPr lang="en-US" b="false" i="false" strike="noStrike" u="none" sz="15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5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false" i="false" strike="noStrike" u="none" sz="15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形象表达出“位置在低处、下方”的方位含义。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1000" y="5651500"/>
            <a:ext cx="1143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短横在上=上，短横在下=下 / Short line on top = above; below = under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016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案例二：本 末 / Case 2: root &amp; tip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7745" r="7745" t="0" b="0"/>
          <a:stretch>
            <a:fillRect/>
          </a:stretch>
        </p:blipFill>
        <p:spPr>
          <a:xfrm rot="0" flipH="false" flipV="false">
            <a:off x="2794000" y="2540000"/>
            <a:ext cx="1778000" cy="228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3365500" y="4445000"/>
            <a:ext cx="635000" cy="76200"/>
          </a:xfrm>
          <a:prstGeom prst="roundRect">
            <a:avLst>
              <a:gd name="adj" fmla="val 0"/>
            </a:avLst>
          </a:prstGeom>
          <a:solidFill>
            <a:srgbClr val="B222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397000" y="49530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 běn = root 树根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397000" y="56515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红色标记直指树木的根基，象征事物的本源与根本。</a:t>
            </a: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寓意追本溯源，强调基础的稳固性。</a:t>
            </a: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Red marks the root, symbolizing the origin and foundation of all things.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7745" r="7745" t="0" b="0"/>
          <a:stretch>
            <a:fillRect/>
          </a:stretch>
        </p:blipFill>
        <p:spPr>
          <a:xfrm rot="0" flipH="false" flipV="false">
            <a:off x="7620000" y="2540000"/>
            <a:ext cx="1778000" cy="228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8191500" y="2730500"/>
            <a:ext cx="635000" cy="76200"/>
          </a:xfrm>
          <a:prstGeom prst="roundRect">
            <a:avLst>
              <a:gd name="adj" fmla="val 0"/>
            </a:avLst>
          </a:prstGeom>
          <a:solidFill>
            <a:srgbClr val="B222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49530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末 mò = tip 树梢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56515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红色标记悬于树木的末梢，象征事物的细枝末节。</a:t>
            </a: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寓意舍本逐末，警示不可忽视本质而追求次要部分。</a:t>
            </a: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Red marks the treetop, symbolizing trivial details and secondary aspects.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2346234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本与末：一字之差 / Root &amp; Tip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3870234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同一个“木”，标记位置不同，意思就不同 / Same tree base, different mark positions = different meanings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886234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追本溯源 · 本末倒置 / idioms: go to the root, put the cart before the horse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635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指事三步走 / Three Steps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517900" y="1778000"/>
            <a:ext cx="711200" cy="711200"/>
          </a:xfrm>
          <a:prstGeom prst="ellipse">
            <a:avLst/>
          </a:prstGeom>
          <a:solidFill>
            <a:srgbClr val="9E9E9E">
              <a:alpha val="100000"/>
            </a:srgbClr>
          </a:solidFill>
          <a:ln cmpd="sng" cap="flat">
            <a:solidFill>
              <a:srgbClr val="85777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517900" y="1778000"/>
            <a:ext cx="711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508500" y="1727200"/>
            <a:ext cx="660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先有象形字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616161"/>
                </a:solidFill>
                <a:latin typeface="Poppins"/>
                <a:ea typeface="Poppins"/>
                <a:cs typeface="Poppins"/>
                <a:sym typeface="Poppins"/>
              </a:rPr>
              <a:t>Start with a pictograph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918200" y="28194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3517900" y="3365500"/>
            <a:ext cx="711200" cy="711200"/>
          </a:xfrm>
          <a:prstGeom prst="ellipse">
            <a:avLst/>
          </a:prstGeom>
          <a:solidFill>
            <a:srgbClr val="9E9E9E">
              <a:alpha val="100000"/>
            </a:srgbClr>
          </a:solidFill>
          <a:ln cmpd="sng" cap="flat">
            <a:solidFill>
              <a:srgbClr val="85777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517900" y="3365500"/>
            <a:ext cx="711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08500" y="3314700"/>
            <a:ext cx="660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加符号标记位置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616161"/>
                </a:solidFill>
                <a:latin typeface="Poppins"/>
                <a:ea typeface="Poppins"/>
                <a:cs typeface="Poppins"/>
                <a:sym typeface="Poppins"/>
              </a:rPr>
              <a:t>Add a mark to show position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918200" y="44069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517900" y="4953000"/>
            <a:ext cx="711200" cy="711200"/>
          </a:xfrm>
          <a:prstGeom prst="ellipse">
            <a:avLst/>
          </a:prstGeom>
          <a:solidFill>
            <a:srgbClr val="9E9E9E">
              <a:alpha val="100000"/>
            </a:srgbClr>
          </a:solidFill>
          <a:ln cmpd="sng" cap="flat">
            <a:solidFill>
              <a:srgbClr val="85777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17900" y="4953000"/>
            <a:ext cx="711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3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08500" y="4902200"/>
            <a:ext cx="660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形成新字新义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616161"/>
                </a:solidFill>
                <a:latin typeface="Poppins"/>
                <a:ea typeface="Poppins"/>
                <a:cs typeface="Poppins"/>
                <a:sym typeface="Poppins"/>
              </a:rPr>
              <a:t>New character, new meaning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0" y="60706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D32F2F"/>
                </a:solidFill>
                <a:latin typeface="Noto Serif SC"/>
                <a:ea typeface="Noto Serif SC"/>
                <a:cs typeface="Noto Serif SC"/>
                <a:sym typeface="Noto Serif SC"/>
              </a:rPr>
              <a:t>加个符号，就是指事 /</a:t>
            </a:r>
            <a:r>
              <a:rPr lang="en-US" b="false" i="false" strike="noStrike" u="none" sz="2000">
                <a:solidFill>
                  <a:srgbClr val="D32F2F"/>
                </a:solidFill>
                <a:latin typeface="Poppins"/>
                <a:ea typeface="Poppins"/>
                <a:cs typeface="Poppins"/>
                <a:sym typeface="Poppins"/>
              </a:rPr>
              <a:t>Add a symbol — this is indicative character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016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小练习 / Quick Practice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76200" cy="1778000"/>
          </a:xfrm>
          <a:prstGeom prst="roundRect">
            <a:avLst>
              <a:gd name="adj" fmla="val 0"/>
            </a:avLst>
          </a:prstGeom>
          <a:solidFill>
            <a:srgbClr val="B4B4B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397000" y="2476500"/>
            <a:ext cx="952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01. 「下」的短横线在哪里？ / Where is the short line in 下?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397000" y="3175000"/>
            <a:ext cx="952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A. 上面 (on top) B. 下面 (below) C. 中间 (middle)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445000"/>
            <a:ext cx="1016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445000"/>
            <a:ext cx="76200" cy="1778000"/>
          </a:xfrm>
          <a:prstGeom prst="roundRect">
            <a:avLst>
              <a:gd name="adj" fmla="val 0"/>
            </a:avLst>
          </a:prstGeom>
          <a:solidFill>
            <a:srgbClr val="B4B4B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97000" y="4635500"/>
            <a:ext cx="952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02. 「本」的红色标记表示？ / What does the red mark in 本 mean?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397000" y="5334000"/>
            <a:ext cx="952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A. 树根 (root) B. 树梢 (tip) C. 树叶 (leaf)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64135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99999"/>
                </a:solidFill>
                <a:latin typeface="Noto Serif SC"/>
                <a:ea typeface="Noto Serif SC"/>
                <a:cs typeface="Noto Serif SC"/>
                <a:sym typeface="Noto Serif SC"/>
              </a:rPr>
              <a:t>答案：1.B 2.A / Answers: 1.B 2.A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0795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本课总结 / Summary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286000" y="2730500"/>
            <a:ext cx="177800" cy="177800"/>
          </a:xfrm>
          <a:prstGeom prst="roundRect">
            <a:avLst>
              <a:gd name="adj" fmla="val 0"/>
            </a:avLst>
          </a:prstGeom>
          <a:solidFill>
            <a:srgbClr val="B91C1C">
              <a:alpha val="100000"/>
            </a:srgbClr>
          </a:solidFill>
          <a:ln cmpd="sng" cap="flat">
            <a:solidFill>
              <a:srgbClr val="A0080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794000" y="2603500"/>
            <a:ext cx="787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指事：象形字加符号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800">
                <a:solidFill>
                  <a:srgbClr val="3C3C3C"/>
                </a:solidFill>
                <a:latin typeface="Poppins"/>
                <a:ea typeface="Poppins"/>
                <a:cs typeface="Poppins"/>
                <a:sym typeface="Poppins"/>
              </a:rPr>
              <a:t>Indicative: pictograph + symbol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0" y="3873500"/>
            <a:ext cx="177800" cy="177800"/>
          </a:xfrm>
          <a:prstGeom prst="roundRect">
            <a:avLst>
              <a:gd name="adj" fmla="val 0"/>
            </a:avLst>
          </a:prstGeom>
          <a:solidFill>
            <a:srgbClr val="B91C1C">
              <a:alpha val="100000"/>
            </a:srgbClr>
          </a:solidFill>
          <a:ln cmpd="sng" cap="flat">
            <a:solidFill>
              <a:srgbClr val="A0080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794000" y="3746500"/>
            <a:ext cx="787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经典案例：上/下、本/末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800">
                <a:solidFill>
                  <a:srgbClr val="3C3C3C"/>
                </a:solidFill>
                <a:latin typeface="Poppins"/>
                <a:ea typeface="Poppins"/>
                <a:cs typeface="Poppins"/>
                <a:sym typeface="Poppins"/>
              </a:rPr>
              <a:t>Examples: up/down, root/tip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286000" y="5016500"/>
            <a:ext cx="177800" cy="177800"/>
          </a:xfrm>
          <a:prstGeom prst="roundRect">
            <a:avLst>
              <a:gd name="adj" fmla="val 0"/>
            </a:avLst>
          </a:prstGeom>
          <a:solidFill>
            <a:srgbClr val="B91C1C">
              <a:alpha val="100000"/>
            </a:srgbClr>
          </a:solidFill>
          <a:ln cmpd="sng" cap="flat">
            <a:solidFill>
              <a:srgbClr val="A0080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794000" y="4889500"/>
            <a:ext cx="787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关键：红色符号表位置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800">
                <a:solidFill>
                  <a:srgbClr val="3C3C3C"/>
                </a:solidFill>
                <a:latin typeface="Poppins"/>
                <a:ea typeface="Poppins"/>
                <a:cs typeface="Poppins"/>
                <a:sym typeface="Poppins"/>
              </a:rPr>
              <a:t>Key: red mark shows position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93548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4400" spc="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谢谢观看 / Thank You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345948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 spc="400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汉字六书·指事造字法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22148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Chinese Character Formation · Indicative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78500" y="4983480"/>
            <a:ext cx="635000" cy="635000"/>
          </a:xfrm>
          <a:prstGeom prst="roundRect">
            <a:avLst>
              <a:gd name="adj" fmla="val 0"/>
            </a:avLst>
          </a:prstGeom>
          <a:solidFill>
            <a:srgbClr val="B03030">
              <a:alpha val="100000"/>
            </a:srgbClr>
          </a:solidFill>
          <a:ln w="12700" cmpd="sng" cap="flat">
            <a:solidFill>
              <a:srgbClr val="8B0000">
                <a:alpha val="4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78500" y="4983480"/>
            <a:ext cx="63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完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{"Label":"1","ContentProducer":"001191110102MACQD9K64010000","ProduceID":"7661190217676524755","ReservedCode1":"","ContentPropagator":"","PropagateID":"","ReservedCode2":""}</vt:lpwstr>
  </property>
</Properties>
</file>