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各位同学，大家好。今天我们来深入探讨汉字造字法中的“会意”。作为汉字六书之一，会意字通过组合两个或多个独体字来表达新的意义，是汉字中极具智慧和趣味的组成部分。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各位同学，大家好。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这节课我们的学习目标主要有三个方面：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首先，我们要深入了解会意造字法的定义，这是理解汉字构字逻辑的基础；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其次，我们会重点掌握两个经典的会意字案例，通过具体的例子来加深理解；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最后，希望大家能够学会如何拆解一个会意字的组成部件，从而更好地理解汉字的含义。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让我们开始今天的汉字探索之旅吧！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会意是汉字造字法之一，属于“合体造字法”。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它的核心在于“合谊”，即把两个或两个以上的独体字结合起来，通过它们的意义组合来表达一个新的、抽象的意思。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比如“人”和“言”组成“信”，表示说话算数；“日”和“月”组成“明”，表示光明。这正是“比类合谊，以见指撝”的体现。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会意字，是指用两个及两个以上的独体汉字，根据各自的含义所组合成的一个新汉字，这种造字法就叫作会意。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的核心特点非常鲜明：首先，它在结构上必须由两个或多个部件组成，这是它的基础形态；其次，这些组成部件的意思不是简单的堆叠，而是相互补充、融合，共同构成一个新的字义；最后，相比起直观的象形字，会意字更侧重于通过组合来表达抽象的概念或动作，是汉字造字法从具象到抽象的一次重要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大家好，今天我们来看第一个汉字案例——“休”。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大家看屏幕中间的这个甲骨文形态，非常直观：左边是一个侧立的人形，右边是一棵树。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当人和树靠在一起，这会是一幅什么样的画面？这又表达了什么含义呢？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这就是我们今天要探讨的核心：汉字背后的象形智慧与生活场景。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这一页我们来拆解“休”这个汉字。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大家看屏幕中间，“休”字由左边的“人”和右边的“木”组成。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“人”代表我们自己，“木”代表树木。当一个人累了，靠在树上，这就是最原始、最自然的休息状态。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这个字非常直观地体现了古人造字的智慧：将人和自然结合，表达出休息的意境。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这一页我们来看汉字“采”的构成。它是一个会意字，由上面的“爪”和下面的“木”组成。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“爪”代表手，“木”代表树。手在树上，形象地描绘了人用手在树上摘取果实或叶子的动作，本义就是摘取、选取。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这种构字方式非常直观地体现了汉字“望文生义”的特点，也反映了古人对自然劳作的观察与记录。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这一页我们来对比两个典型的会意字：“休”和“采”。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左边的“休”，由“人”和“木”组成，描绘的是人靠在树下休息的场景，非常直观地表达了“休息”的含义。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右边的“采”，由“爪”（手）和“木”组成，形象地表现了手伸向树木摘取果实的动作，所以代表“采摘”。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这两个字都是通过将两个表意部件组合在一起，从而产生新的含义，这正是会意字的精髓所在。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这一页我们来深入了解几个典型的会意字。会意字是汉字造字法中非常有趣的一种，它通过将两个或多个独体字组合在一起，来表达一个新的意思。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首先看左上角的“森”字，它由三个“木”组成，树木多了就成了森林，非常直观地表达了数量多、繁茂的意思。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右上角的“好”字，由“女”和“子”组成。在古代，儿女双全、家庭和睦被认为是最大的幸福和美好，所以这个字代表了美好的含义。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左下角的“明”字，左边是日，右边是月，太阳和月亮都是发光体，放在一起自然就代表了光明、明亮。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最后是右下角的“从”字，两个人一前一后，形象地描绘了跟随的动作，所以它的本义就是跟从、随从。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通过这些例子，我们可以看到汉字不仅是记录语言的符号，更蕴含着古人对世界的观察和理解。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汉字造字法中的“会意”。会意字的构成其实非常简单，只需要遵循这三个步骤：首先，选取两个我们已经认识的象形字；然后，将这两个字所代表的意思进行融合与关联；最后，这两个意思的结合体就形成了一个全新的汉字，这个新字的意思就是那两个部分的意义之和。这就是“合字见意”的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这一页我们通过两个简单的小练习来巩固刚才学到的知识。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第一题考察的是会意字“休”的构成，左边是“人”，右边是“木”，人靠在树上休息，所以选A。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第二题考察的是“明”的本义，由“日”和“月”组成，代表光明、明亮，所以选B。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大家做得怎么样？通过拆解汉字的部件，我们可以更直观地理解它的含义。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同学们，这节课我们主要学习了“会意字”。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首先，大家要理解会意字的定义：它是通过将两个或多个独体字组合在一起，来表达一个新的意义。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我们看了几个非常经典的例子：休（人倚木而休）、采（手在木上采摘）、明（日月同辉）、森（多木成林）。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最后，请大家记住会意字最核心的特点：就是把组成它的各个部件的意思加在一起，就能推导出这个字的整体含义。这也是我们理解和记忆会意字的关键方法。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会意字作为汉字造字法中极具智慧的一种，不仅记录了先民的生活，更体现了中国人独特的思维方式。希望通过今天的分享，大家能对汉字的魅力有更深的体会。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jpe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1.jpe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032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 spc="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会意造字法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429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Associative Characters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445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 spc="3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11800" y="5270500"/>
            <a:ext cx="1168400" cy="1168400"/>
          </a:xfrm>
          <a:prstGeom prst="roundRect">
            <a:avLst>
              <a:gd name="adj" fmla="val 0"/>
            </a:avLst>
          </a:prstGeom>
          <a:solidFill>
            <a:srgbClr val="AC2A2A">
              <a:alpha val="92000"/>
            </a:srgbClr>
          </a:solidFill>
          <a:ln w="12700" cmpd="sng" cap="flat">
            <a:solidFill>
              <a:srgbClr val="78141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11800" y="5270500"/>
            <a:ext cx="11684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2827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 Learning Objectives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794000" y="2870200"/>
            <a:ext cx="177800" cy="177800"/>
          </a:xfrm>
          <a:prstGeom prst="ellipse">
            <a:avLst/>
          </a:prstGeom>
          <a:solidFill>
            <a:srgbClr val="C23830">
              <a:alpha val="100000"/>
            </a:srgbClr>
          </a:solidFill>
          <a:ln cmpd="sng" cap="flat">
            <a:solidFill>
              <a:srgbClr val="A92119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175000" y="27813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了解会意造字法的定义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Understand associative characters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94000" y="3886200"/>
            <a:ext cx="177800" cy="177800"/>
          </a:xfrm>
          <a:prstGeom prst="ellipse">
            <a:avLst/>
          </a:prstGeom>
          <a:solidFill>
            <a:srgbClr val="C23830">
              <a:alpha val="100000"/>
            </a:srgbClr>
          </a:solidFill>
          <a:ln cmpd="sng" cap="flat">
            <a:solidFill>
              <a:srgbClr val="A92119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75000" y="37973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掌握两个经典会意字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Master two classic examples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4902200"/>
            <a:ext cx="177800" cy="177800"/>
          </a:xfrm>
          <a:prstGeom prst="ellipse">
            <a:avLst/>
          </a:prstGeom>
          <a:solidFill>
            <a:srgbClr val="C23830">
              <a:alpha val="100000"/>
            </a:srgbClr>
          </a:solidFill>
          <a:ln cmpd="sng" cap="flat">
            <a:solidFill>
              <a:srgbClr val="A92119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75000" y="48133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能拆分会意字的部件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Split the character into parts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1270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什么是会意？/ What is Associative?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667000"/>
            <a:ext cx="10160000" cy="2921000"/>
          </a:xfrm>
          <a:prstGeom prst="roundRect">
            <a:avLst>
              <a:gd name="adj" fmla="val 5217"/>
            </a:avLst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3302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222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比类合谊，以见指撝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44450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Combine meanings of parts to show a new idea.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969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把几个字合起来，表示新意思 /</a:t>
            </a: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Put characters together, make a new meaning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810623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会意的特点 / Features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0" y="2626723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921000" y="2334623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由两个或多个部件组成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Made of 2+ character parts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0" y="3896723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21000" y="3604623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部件意思相加 = 新字意思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Parts' meanings add up = new meaning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540000" y="5166723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4874623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比象形字更抽象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More abstract than pictographs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90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 xiū / Case 1: xiū (rest)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42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08080"/>
                </a:solidFill>
                <a:latin typeface="Poppins"/>
                <a:ea typeface="Poppins"/>
                <a:cs typeface="Poppins"/>
                <a:sym typeface="Poppins"/>
              </a:rPr>
              <a:t>甲骨文 Oracle Bone Script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19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人和树在一起，在做什么？</a:t>
            </a: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/ Person + tree, what are they doing?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1F1F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休：人靠树休息 / Person Leans on Tree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3878" b="3878"/>
          <a:stretch>
            <a:fillRect/>
          </a:stretch>
        </p:blipFill>
        <p:spPr>
          <a:xfrm rot="0" flipH="false" flipV="false">
            <a:off x="2794000" y="2540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4191000" y="26670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F1F1F"/>
                </a:solidFill>
                <a:latin typeface="Noto Serif SC"/>
                <a:ea typeface="Noto Serif SC"/>
                <a:cs typeface="Noto Serif SC"/>
                <a:sym typeface="Noto Serif SC"/>
              </a:rPr>
              <a:t>亻 / 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person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0" y="2540000"/>
            <a:ext cx="101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+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3982" b="3982"/>
          <a:stretch>
            <a:fillRect/>
          </a:stretch>
        </p:blipFill>
        <p:spPr>
          <a:xfrm rot="0" flipH="false" flipV="false">
            <a:off x="6985000" y="2540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8382000" y="26670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F1F1F"/>
                </a:solidFill>
                <a:latin typeface="Noto Serif SC"/>
                <a:ea typeface="Noto Serif SC"/>
                <a:cs typeface="Noto Serif SC"/>
                <a:sym typeface="Noto Serif SC"/>
              </a:rPr>
              <a:t>木 / 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tree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4572000"/>
            <a:ext cx="76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999999"/>
                </a:solidFill>
                <a:latin typeface="Noto Serif SC"/>
                <a:ea typeface="Noto Serif SC"/>
                <a:cs typeface="Noto Serif SC"/>
                <a:sym typeface="Noto Serif SC"/>
              </a:rPr>
              <a:t>=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1000" y="4508500"/>
            <a:ext cx="152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CC3333"/>
                </a:solidFill>
                <a:latin typeface="Kaiti SC"/>
                <a:ea typeface="Kaiti SC"/>
                <a:cs typeface="Kaiti SC"/>
                <a:sym typeface="Kaiti SC"/>
              </a:rPr>
              <a:t>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66000" y="4572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1F1F1F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休息</a:t>
            </a:r>
            <a:r>
              <a:rPr lang="en-US" b="false" i="false" strike="noStrike" u="none" sz="1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/ rest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5715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767676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人靠着树，就是休息 / A person leans on a tree to take a rest, symbolizing the need for pause and repose in nature.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76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案例二：采 cǎi / Case 2: cǎi (pick)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302000" y="2667000"/>
            <a:ext cx="1016000" cy="1016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2540000" y="3810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爪 hand/claw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2794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B22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+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r="0" t="3982" b="3982"/>
          <a:stretch>
            <a:fillRect/>
          </a:stretch>
        </p:blipFill>
        <p:spPr>
          <a:xfrm rot="0" flipH="false" flipV="false">
            <a:off x="8128000" y="2667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366000" y="3810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木 tree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469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6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=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533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B22222"/>
                </a:solidFill>
                <a:latin typeface="Kaiti SC"/>
                <a:ea typeface="Kaiti SC"/>
                <a:cs typeface="Kaiti SC"/>
                <a:sym typeface="Kaiti SC"/>
              </a:rPr>
              <a:t>采</a:t>
            </a:r>
            <a:r>
              <a:rPr lang="en-US" b="false" i="false" strike="noStrike" u="none" sz="2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采摘 pick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6413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手在树上摘果子 / Hand above tree = pick fruit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101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 与 采：都是会意 / Both Associative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人（单人旁） + 木（树木）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02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953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休息 / rest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人倚木旁，驻足停歇，是身心安顿的会意表达。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54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爪（手） + 木（树木）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3302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4953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采摘 / pick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手伸至木，摘取花果，是收获与劳作的动态描绘。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660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两个部件合起来，就有了新意思 / Two parts put together = new meaning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常见会意字 / More Examples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982" b="3982"/>
          <a:stretch>
            <a:fillRect/>
          </a:stretch>
        </p:blipFill>
        <p:spPr>
          <a:xfrm rot="0" flipH="false" flipV="false">
            <a:off x="1016000" y="23495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540000" y="1968500"/>
            <a:ext cx="330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sēn | 森林 (Forest)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由三个「木」字叠加构成，寓意树木丛生、繁密成林。形象地表达了草木繁茂、郁郁葱葱的自然景象，也引申为众多、繁盛之意。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778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2349500"/>
            <a:ext cx="127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74000" y="1968500"/>
            <a:ext cx="330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hǎo | 美好 (Good)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由「女」与「子」左右组合而成。古人认为有儿有女、阴阳和谐是美满的象征，因此引申为美好、优良、令人满意的含义。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445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27000" r="26999" t="0" b="0"/>
          <a:stretch>
            <a:fillRect/>
          </a:stretch>
        </p:blipFill>
        <p:spPr>
          <a:xfrm rot="0" flipH="false" flipV="false">
            <a:off x="1143000" y="5080000"/>
            <a:ext cx="5715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20028" r="20028" t="0" b="0"/>
          <a:stretch>
            <a:fillRect/>
          </a:stretch>
        </p:blipFill>
        <p:spPr>
          <a:xfrm rot="0" flipH="false" flipV="false">
            <a:off x="1841500" y="5080000"/>
            <a:ext cx="5715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2540000" y="4635500"/>
            <a:ext cx="330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míng | 光明 (Bright)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由「日」和「月」两个部件组成。日为太阳，月为月亮，日月同辉，光芒四射，最能代表光明，故引申为清晰、智慧与公开。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445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25909" r="25909" t="0" b="0"/>
          <a:stretch>
            <a:fillRect/>
          </a:stretch>
        </p:blipFill>
        <p:spPr>
          <a:xfrm rot="0" flipH="false" flipV="false">
            <a:off x="6540500" y="5080000"/>
            <a:ext cx="508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25909" r="25909" t="0" b="0"/>
          <a:stretch>
            <a:fillRect/>
          </a:stretch>
        </p:blipFill>
        <p:spPr>
          <a:xfrm rot="0" flipH="false" flipV="false">
            <a:off x="7175500" y="5080000"/>
            <a:ext cx="508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874000" y="4635500"/>
            <a:ext cx="330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cóng | 跟从 (Follow)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由两个「人」字前后相随构成，描绘了一人跟随在另一人身后的画面。形象地表达了跟随、顺从、相伴以及从众的含义。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会意三步走 / Three Steps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56000" y="2540000"/>
            <a:ext cx="762000" cy="762000"/>
          </a:xfrm>
          <a:prstGeom prst="ellipse">
            <a:avLst/>
          </a:prstGeom>
          <a:solidFill>
            <a:srgbClr val="9E9E9E">
              <a:alpha val="100000"/>
            </a:srgbClr>
          </a:solidFill>
          <a:ln cmpd="sng" cap="flat">
            <a:solidFill>
              <a:srgbClr val="85777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56000" y="2540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826000" y="25400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选两个象形字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Pick 2 pictographs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3810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556000" y="4572000"/>
            <a:ext cx="762000" cy="762000"/>
          </a:xfrm>
          <a:prstGeom prst="ellipse">
            <a:avLst/>
          </a:prstGeom>
          <a:solidFill>
            <a:srgbClr val="9E9E9E">
              <a:alpha val="100000"/>
            </a:srgbClr>
          </a:solidFill>
          <a:ln cmpd="sng" cap="flat">
            <a:solidFill>
              <a:srgbClr val="85777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4572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5720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把意思合起来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Combine their meanings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84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3131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合字见意，就是会意 / Combine parts to show meaning — this is associative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762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小练习 / Quick Practice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905000"/>
            <a:ext cx="1092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2159000"/>
            <a:ext cx="50800" cy="4445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06500" y="2095500"/>
            <a:ext cx="1003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「休」是由哪两个部件组成的？ / What characters make up 休?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279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A. 人 + 木 (person + tree) B. 人 + 口 (person + mouth) C. 木 + 日 (tree + sun)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4191000"/>
            <a:ext cx="1092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445000"/>
            <a:ext cx="50800" cy="4445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4381500"/>
            <a:ext cx="1003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「明」的本义是什么？ / What is the original meaning of 明?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6500" y="508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A. 黑暗 (dark) B. 明亮 (bright) C. 休息 (rest)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64135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答案：1.A 2.B / Answers: 1.A, 2.B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85725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 Summary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175000" y="263525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56000" y="257175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会意：几个字合起来表新意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Associative: combine parts for new meaning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175000" y="390525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384175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经典案例：休、采、明、森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Examples: rest, pick, bright, forest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517525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511175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特点：部件意思相加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Poppins"/>
                <a:ea typeface="Poppins"/>
                <a:cs typeface="Poppins"/>
                <a:sym typeface="Poppins"/>
              </a:rPr>
              <a:t>Feature: meanings add up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63195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000" spc="3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 Thank You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15595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25252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汉字六书·会意造字法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5445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Chinese Character Formation · Associative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91200" y="4616450"/>
            <a:ext cx="609600" cy="6096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91200" y="461645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{"Label":"1","ContentProducer":"001191110102MACQD9K64010000","ProduceID":"7661190219940531420","ReservedCode1":"","ContentPropagator":"","PropagateID":"","ReservedCode2":""}</vt:lpwstr>
  </property>
</Properties>
</file>