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各位同学大家好，欢迎来到对外汉语教学课堂。今天我们将一起走进汉字的起源，重点探讨“六书”之首——象形造字法。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这一页我们来明确一下本节课的学习目标。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首先，我们要从理论层面了解象形造字法的定义，明白它是如何通过描绘事物形状来创造文字的。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其次，我们会重点掌握4个具有代表性的经典象形字，深入理解它们的字形与字义的联系。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最后，大家需要具备看图识别象形字的能力，能够通过字形特征，准确判断出它所代表的事物。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这三个目标层层递进，将帮助我们打下坚实的基础。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这一页我们来深入了解一下“象形”的定义。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象形是汉字造字法中最基础、最直观的一种。古人用八个字来概括它的精髓，就是“画成其物，随体诘诎”。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这句话的意思是，描摹事物的形状，笔画随着物体的轮廓而弯曲变化。简单来说，就是把字画得像它所代表的那个东西。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这种造字方法保留了事物最原始的形态特征，让我们看到字形就能联想到实物，是汉字“形意结合”的生动体现。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象形文字，是汉字的基础构成方式之一，它主要有三个核心特点。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首先是“字画合一，像图画一样”，这是象形字最直观的特征，它通过描绘事物的轮廓来表达字义，就像一幅幅简化的图画。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其次，象形字所代表的都是具体的实物，比如日、月、山、水，都是我们能看得见、摸得着的具体存在。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最后，它是汉字中最古老的造字法，是汉字体系的源头，为后续的指事、会意等造字法奠定了基础。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这一页我们进入第一个案例：汉字“日”。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大家看屏幕中间这个符号，它是一个圆圈，中间有一个点。这其实就是最古老的“日”字写法——甲骨文。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为什么古人要这么写呢？大家可以发挥想象力猜猜看。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这一页我们来看看“日”字的演变过程，这是一个非常典型的象形字。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首先，最左边是实物的描摹，古人看到天上的太阳是圆的，就在地上画一个圆圈来代表它，这是最原始的图画。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中间是甲骨文时期的“日”字，为了强调这是一个实体，而不是空洞的圆圈，古人在圆中加了一点，象征太阳的实体，这时候的字形还保留着浓厚的图画感。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到了右边的楷书，字形已经发生了很大的变化，虽然还保留着方形的轮廓，但笔画已经变得平直、方正，更加符号化，也更便于书写。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从图画到符号，这就是汉字“日”的演变之路。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这一页我们来探讨“月”字的演变过程。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首先看最左边，这是“实物”，也就是古人在夜空中最常见到的月亮形态——弯弯的月牙。这是“月”字产生的自然基础。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中间是“甲骨文”时期的“月”字，它是典型的象形字，直接描摹了月牙的轮廓，线条简单而生动，保留了最原始的自然特征。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最右边是我们熟悉的“楷书”，经过了几千年的演变，它的笔画变得更加方正、规范，成为了我们今天使用的标准形态。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从自然的弯月到甲骨的象形，再到楷书的方正，这不仅是字形的演变，更是中华文明书写艺术的发展见证。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这一页我们来总结一下“日”和“月”这两个字。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大家看左边的“日”字，无论是甲骨文还是楷书，都保留了圆形的轮廓，象征着太阳的圆满和光辉。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再看右边的“月”字，甲骨文的形态就像一弯新月，中间的笔画象征着月亮的光影，楷书则进一步规整了这种形态。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这两个字都是典型的象形文字，字形直接描绘了事物的样子，正如屏幕下方所总结的：两个字都像它们代表的东西，这正是汉字的魅力所在。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这一页我们来欣赏几个最具代表性的象形字。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首先是“山”，它的字形直接模仿了山峰并立的样子，三个三角形的组合非常直观地表现了山峦的形态。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然后是“水”，这个字的形状像流动的波纹，中间的曲线代表主河道，旁边的点代表水滴或浪花，生动地表现了水的流动性。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接下来是“人”，它描绘的是一个侧身站立的人形，简单的几笔勾勒出了人的轮廓，体现了汉字的简洁之美。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最后是“木”，它的字形像一棵树，上面是枝叶，中间是树干，下面是树根，完整地展现了树木的形态。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这些象形字都是古人通过观察自然万物，用最简洁的线条描绘出来的，充分体现了汉字“画成其物，随体诘诎”的特点。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象形是汉字最原始的造字方法，它的核心逻辑非常直观，主要分为三个步骤：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第一步是观察实物，也就是仔细看这个东西长什么样，比如看太阳、月亮、山、水的样子；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第二步是简化描画，抓住事物最关键的特征，把复杂的外形简化成简单的线条；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第三步，这些简化的线条组合起来，就变成了我们今天看到的汉字。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简单来说，就是“照着画”，这就是象形的本质。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同学们，我们来做一个快速的随堂小测验，巩固一下刚才学到的知识。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第一题：大家看“日”这个字，它的甲骨文字形就像一个圆圆的太阳，中间的一点或一横代表太阳的实体。所以正确答案是B，太阳。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第二题：我们来辨别一下象形字。象形字是模仿事物形状的造字法。“木”字的形状就像一棵树，有树干、树枝和树根，非常形象，所以它是象形字。而“其”和“令”则属于其他造字法。所以正确答案是A。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同学们，今天我们一起回顾了汉字中最古老、最生动的造字法——象形。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首先，我们理解了什么是象形：它就是照着事物的样子画出来的字，是一种通过描绘客观事物的形态来表示字义的造字方法。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然后，我们学习了几个最经典的象形字案例，比如天上的“日”和“月”，地上的“山”和“水”，还有我们自己“人”以及大自然中的“木”。这些字都保留了事物最核心的外形特征。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最后，我们总结了象形字的核心特点：字画很像，看到字形就能联想到它所代表的实物，这也是汉字“望文生义”的源头。希望大家课后多加观察，去发现生活中更多有趣的象形字。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感谢大家的聆听。象形造字法作为汉字六书之首，是我们理解汉字起源和文化内涵的一把金钥匙。希望今天的分享能让大家对汉字的魅力有更深的体会。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jpeg" Type="http://schemas.openxmlformats.org/officeDocument/2006/relationships/image"/><Relationship Id="rId5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Relationship Id="rId7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8.jpeg" Type="http://schemas.openxmlformats.org/officeDocument/2006/relationships/image"/><Relationship Id="rId4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Relationship Id="rId5" Target="../media/image12.jpeg" Type="http://schemas.openxmlformats.org/officeDocument/2006/relationships/image"/><Relationship Id="rId6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BED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556000" y="889000"/>
            <a:ext cx="5080000" cy="5080000"/>
          </a:xfrm>
          <a:prstGeom prst="ellipse">
            <a:avLst/>
          </a:prstGeom>
          <a:solidFill>
            <a:srgbClr val="D2D7DC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905000"/>
            <a:ext cx="1219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 spc="1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象形造字法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556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475569"/>
                </a:solidFill>
                <a:latin typeface="Roboto"/>
                <a:ea typeface="Roboto"/>
                <a:cs typeface="Roboto"/>
                <a:sym typeface="Roboto"/>
              </a:rPr>
              <a:t>Pictographic Characters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572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 spc="400">
                <a:solidFill>
                  <a:srgbClr val="64748B"/>
                </a:solidFill>
                <a:latin typeface="Noto Serif SC"/>
                <a:ea typeface="Noto Serif SC"/>
                <a:cs typeface="Noto Serif SC"/>
                <a:sym typeface="Noto Serif SC"/>
              </a:rPr>
              <a:t>汉字六书 · 对外汉语教学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562600" y="5461000"/>
            <a:ext cx="1066800" cy="1066800"/>
          </a:xfrm>
          <a:prstGeom prst="roundRect">
            <a:avLst>
              <a:gd name="adj" fmla="val 0"/>
            </a:avLst>
          </a:prstGeom>
          <a:solidFill>
            <a:srgbClr val="B22222">
              <a:alpha val="95000"/>
            </a:srgbClr>
          </a:solidFill>
          <a:ln w="25400" cmpd="sng" cap="flat">
            <a:solidFill>
              <a:srgbClr val="8B00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62600" y="5461000"/>
            <a:ext cx="10668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Kaiti SC"/>
                <a:ea typeface="Kaiti SC"/>
                <a:cs typeface="Kaiti SC"/>
                <a:sym typeface="Kaiti SC"/>
              </a:rPr>
              <a:t>六书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0EE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D2D0C8">
              <a:alpha val="20000"/>
            </a:srgbClr>
          </a:solidFill>
          <a:ln cmpd="sng" cap="flat">
            <a:solidFill>
              <a:srgbClr val="B8B39D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D2D0C8">
              <a:alpha val="20000"/>
            </a:srgbClr>
          </a:solidFill>
          <a:ln cmpd="sng" cap="flat">
            <a:solidFill>
              <a:srgbClr val="B8B39D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889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学习目标 /</a:t>
            </a:r>
            <a:r>
              <a:rPr lang="en-US" b="false" i="false" strike="noStrike" u="none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159000" y="2514600"/>
            <a:ext cx="254000" cy="254000"/>
          </a:xfrm>
          <a:prstGeom prst="ellipse">
            <a:avLst/>
          </a:prstGeom>
          <a:solidFill>
            <a:srgbClr val="D32F2F">
              <a:alpha val="100000"/>
            </a:srgbClr>
          </a:solidFill>
          <a:ln cmpd="sng" cap="flat">
            <a:solidFill>
              <a:srgbClr val="B9171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667000" y="2349500"/>
            <a:ext cx="7874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了解象形造字法的定义</a:t>
            </a:r>
            <a:r>
              <a:rPr lang="en-US" b="fals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Understand pictographic characters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159000" y="3911600"/>
            <a:ext cx="254000" cy="254000"/>
          </a:xfrm>
          <a:prstGeom prst="ellipse">
            <a:avLst/>
          </a:prstGeom>
          <a:solidFill>
            <a:srgbClr val="D32F2F">
              <a:alpha val="100000"/>
            </a:srgbClr>
          </a:solidFill>
          <a:ln cmpd="sng" cap="flat">
            <a:solidFill>
              <a:srgbClr val="B9171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67000" y="3746500"/>
            <a:ext cx="7874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掌握4个经典象形字</a:t>
            </a:r>
            <a:r>
              <a:rPr lang="en-US" b="fals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Master 4 classic pictographs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159000" y="5308600"/>
            <a:ext cx="254000" cy="254000"/>
          </a:xfrm>
          <a:prstGeom prst="ellipse">
            <a:avLst/>
          </a:prstGeom>
          <a:solidFill>
            <a:srgbClr val="D32F2F">
              <a:alpha val="100000"/>
            </a:srgbClr>
          </a:solidFill>
          <a:ln cmpd="sng" cap="flat">
            <a:solidFill>
              <a:srgbClr val="B9171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667000" y="5143500"/>
            <a:ext cx="7874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能看图识别象形字</a:t>
            </a:r>
            <a:r>
              <a:rPr lang="en-US" b="false" i="false" strike="noStrike" u="none" sz="2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24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Recognize pictographs from pictures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3F2E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D2D0C8">
              <a:alpha val="15000"/>
            </a:srgbClr>
          </a:solidFill>
          <a:ln cmpd="sng" cap="flat">
            <a:solidFill>
              <a:srgbClr val="B8B39D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4445000"/>
            <a:ext cx="3810000" cy="3810000"/>
          </a:xfrm>
          <a:prstGeom prst="ellipse">
            <a:avLst/>
          </a:prstGeom>
          <a:solidFill>
            <a:srgbClr val="D2D0C8">
              <a:alpha val="15000"/>
            </a:srgbClr>
          </a:solidFill>
          <a:ln cmpd="sng" cap="flat">
            <a:solidFill>
              <a:srgbClr val="B8B39D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016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什么是象形？/</a:t>
            </a:r>
            <a:r>
              <a:rPr lang="en-US" b="false" i="false" strike="noStrike" u="none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What is Pictograph?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51000" y="2540000"/>
            <a:ext cx="8890000" cy="2159000"/>
          </a:xfrm>
          <a:prstGeom prst="roundRect">
            <a:avLst>
              <a:gd name="adj" fmla="val 0"/>
            </a:avLst>
          </a:prstGeom>
          <a:solidFill>
            <a:srgbClr val="E2E0D9">
              <a:alpha val="60000"/>
            </a:srgbClr>
          </a:solidFill>
          <a:ln w="12700" cmpd="sng" cap="flat">
            <a:solidFill>
              <a:srgbClr val="BDB9A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51000" y="2857500"/>
            <a:ext cx="8890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画成其物，随体诘诎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651000" y="3937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4B5563"/>
                </a:solidFill>
                <a:latin typeface="Roboto"/>
                <a:ea typeface="Roboto"/>
                <a:cs typeface="Roboto"/>
                <a:sym typeface="Roboto"/>
              </a:rPr>
              <a:t>Draw the object, following its shape.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52705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71717A"/>
                </a:solidFill>
                <a:latin typeface="Noto Serif SC"/>
                <a:ea typeface="Noto Serif SC"/>
                <a:cs typeface="Noto Serif SC"/>
                <a:sym typeface="Noto Serif SC"/>
              </a:rPr>
              <a:t>照着东西的样子画出来 /</a:t>
            </a:r>
            <a:r>
              <a:rPr lang="en-US" b="false" i="false" strike="noStrike" u="none" sz="1800">
                <a:solidFill>
                  <a:srgbClr val="71717A"/>
                </a:solidFill>
                <a:latin typeface="Roboto"/>
                <a:ea typeface="Roboto"/>
                <a:cs typeface="Roboto"/>
                <a:sym typeface="Roboto"/>
              </a:rPr>
              <a:t>Draw characters to look like the things they represent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6604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字源释义依据：汉典 zdic.net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F1E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D2D0C6">
              <a:alpha val="30000"/>
            </a:srgbClr>
          </a:solidFill>
          <a:ln cmpd="sng" cap="flat">
            <a:solidFill>
              <a:srgbClr val="B8B49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652000" y="4318000"/>
            <a:ext cx="3810000" cy="3810000"/>
          </a:xfrm>
          <a:prstGeom prst="ellipse">
            <a:avLst/>
          </a:prstGeom>
          <a:solidFill>
            <a:srgbClr val="D2D0C6">
              <a:alpha val="30000"/>
            </a:srgbClr>
          </a:solidFill>
          <a:ln cmpd="sng" cap="flat">
            <a:solidFill>
              <a:srgbClr val="B8B49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762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象形的特点 /</a:t>
            </a:r>
            <a:r>
              <a:rPr lang="en-US" b="false" i="false" strike="noStrike" u="none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Features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032000" y="2336800"/>
            <a:ext cx="177800" cy="177800"/>
          </a:xfrm>
          <a:prstGeom prst="roundRect">
            <a:avLst>
              <a:gd name="adj" fmla="val 0"/>
            </a:avLst>
          </a:prstGeom>
          <a:solidFill>
            <a:srgbClr val="C02A2A">
              <a:alpha val="100000"/>
            </a:srgbClr>
          </a:solidFill>
          <a:ln cmpd="sng" cap="flat">
            <a:solidFill>
              <a:srgbClr val="A714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413000" y="2159000"/>
            <a:ext cx="800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字画合一，像图画一样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2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Look like small pictures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032000" y="3733800"/>
            <a:ext cx="177800" cy="177800"/>
          </a:xfrm>
          <a:prstGeom prst="roundRect">
            <a:avLst>
              <a:gd name="adj" fmla="val 0"/>
            </a:avLst>
          </a:prstGeom>
          <a:solidFill>
            <a:srgbClr val="C02A2A">
              <a:alpha val="100000"/>
            </a:srgbClr>
          </a:solidFill>
          <a:ln cmpd="sng" cap="flat">
            <a:solidFill>
              <a:srgbClr val="A714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413000" y="3556000"/>
            <a:ext cx="800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都是具体实物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2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Represent concrete, real objects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032000" y="5130800"/>
            <a:ext cx="177800" cy="177800"/>
          </a:xfrm>
          <a:prstGeom prst="roundRect">
            <a:avLst>
              <a:gd name="adj" fmla="val 0"/>
            </a:avLst>
          </a:prstGeom>
          <a:solidFill>
            <a:srgbClr val="C02A2A">
              <a:alpha val="100000"/>
            </a:srgbClr>
          </a:solidFill>
          <a:ln cmpd="sng" cap="flat">
            <a:solidFill>
              <a:srgbClr val="A7141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413000" y="4953000"/>
            <a:ext cx="800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8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是最古老的造字法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20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The oldest character-making method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E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556000" y="1524000"/>
            <a:ext cx="5080000" cy="5080000"/>
          </a:xfrm>
          <a:prstGeom prst="ellipse">
            <a:avLst/>
          </a:prstGeom>
          <a:solidFill>
            <a:srgbClr val="000000">
              <a:alpha val="3000"/>
            </a:srgbClr>
          </a:solidFill>
          <a:ln cmpd="sng" cap="flat">
            <a:solidFill>
              <a:srgbClr val="000000">
                <a:alpha val="3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191000" y="2159000"/>
            <a:ext cx="3810000" cy="3810000"/>
          </a:xfrm>
          <a:prstGeom prst="ellipse">
            <a:avLst/>
          </a:prstGeom>
          <a:solidFill>
            <a:srgbClr val="000000">
              <a:alpha val="3000"/>
            </a:srgbClr>
          </a:solidFill>
          <a:ln cmpd="sng" cap="flat">
            <a:solidFill>
              <a:srgbClr val="000000">
                <a:alpha val="3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1016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案例一：日 rì /</a:t>
            </a:r>
            <a:r>
              <a:rPr lang="en-US" b="false" i="false" strike="noStrike" u="none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Case 1: rì (sun)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3999" r="3999" t="0" b="0"/>
          <a:stretch>
            <a:fillRect/>
          </a:stretch>
        </p:blipFill>
        <p:spPr>
          <a:xfrm rot="0" flipH="false" flipV="false">
            <a:off x="4826000" y="2413000"/>
            <a:ext cx="2540000" cy="254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0" y="5080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甲骨文</a:t>
            </a:r>
            <a:r>
              <a:rPr lang="en-US" b="false" i="false" strike="noStrike" u="none" sz="1600">
                <a:solidFill>
                  <a:srgbClr val="6B7280"/>
                </a:solidFill>
                <a:latin typeface="Roboto"/>
                <a:ea typeface="Roboto"/>
                <a:cs typeface="Roboto"/>
                <a:sym typeface="Roboto"/>
              </a:rPr>
              <a:t>Oracle Bone Script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778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9CA3AF"/>
                </a:solidFill>
                <a:latin typeface="Noto Serif SC"/>
                <a:ea typeface="Noto Serif SC"/>
                <a:cs typeface="Noto Serif SC"/>
                <a:sym typeface="Noto Serif SC"/>
              </a:rPr>
              <a:t>猜猜它画的是什么？</a:t>
            </a:r>
            <a:r>
              <a:rPr lang="en-US" b="false" i="false" strike="noStrike" u="none" sz="1800">
                <a:solidFill>
                  <a:srgbClr val="9CA3AF"/>
                </a:solidFill>
                <a:latin typeface="Roboto"/>
                <a:ea typeface="Roboto"/>
                <a:cs typeface="Roboto"/>
                <a:sym typeface="Roboto"/>
              </a:rPr>
              <a:t>/ Guess what it draws?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0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D2CDBE">
              <a:alpha val="20000"/>
            </a:srgbClr>
          </a:solidFill>
          <a:ln cmpd="sng" cap="flat">
            <a:solidFill>
              <a:srgbClr val="B8AF9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4445000"/>
            <a:ext cx="3810000" cy="3810000"/>
          </a:xfrm>
          <a:prstGeom prst="ellipse">
            <a:avLst/>
          </a:prstGeom>
          <a:solidFill>
            <a:srgbClr val="D2CDBE">
              <a:alpha val="20000"/>
            </a:srgbClr>
          </a:solidFill>
          <a:ln cmpd="sng" cap="flat">
            <a:solidFill>
              <a:srgbClr val="B8AF9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508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日：从图画到文字 /</a:t>
            </a:r>
            <a:r>
              <a:rPr lang="en-US" b="false" i="false" strike="noStrike" u="none" sz="3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From Picture to Character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3048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mpd="sng" cap="flat">
            <a:solidFill>
              <a:srgbClr val="C8C3B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095500" y="2286000"/>
            <a:ext cx="889000" cy="889000"/>
          </a:xfrm>
          <a:prstGeom prst="ellipse">
            <a:avLst/>
          </a:prstGeom>
          <a:solidFill>
            <a:srgbClr val="FFB432">
              <a:alpha val="15000"/>
            </a:srgbClr>
          </a:solidFill>
          <a:ln w="25400" cmpd="sng" cap="flat">
            <a:solidFill>
              <a:srgbClr val="1F232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365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实物 ·</a:t>
            </a:r>
            <a:r>
              <a:rPr lang="en-US" b="true" i="false" strike="noStrike" u="none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Picture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06500" y="3937000"/>
            <a:ext cx="266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描摹太阳的圆形轮廓，是最直观的视觉记录，也是汉字象形的源头。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4165600" y="3111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572000" y="2032000"/>
            <a:ext cx="3048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mpd="sng" cap="flat">
            <a:solidFill>
              <a:srgbClr val="C8C3B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651500" y="2286000"/>
            <a:ext cx="889000" cy="889000"/>
          </a:xfrm>
          <a:prstGeom prst="roundRect">
            <a:avLst>
              <a:gd name="adj" fmla="val 0"/>
            </a:avLst>
          </a:prstGeom>
          <a:blipFill>
            <a:blip r:embed="rId4"/>
            <a:stretch>
              <a:fillRect l="0" t="-31681" r="0" b="-31681"/>
            </a:stretch>
          </a:blipFill>
          <a:ln cmpd="sng" cap="flat">
            <a:solidFill>
              <a:srgbClr val="FFFFFF">
                <a:alpha val="0"/>
              </a:srgbClr>
            </a:solidFill>
            <a:prstDash val="solid"/>
            <a:round/>
          </a:ln>
        </p:spPr>
        <p:txBody>
          <a:bodyPr anchor="ctr" rtlCol="false" vert="horz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365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甲骨文 ·</a:t>
            </a:r>
            <a:r>
              <a:rPr lang="en-US" b="true" i="false" strike="noStrike" u="none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Oracle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62500" y="3937000"/>
            <a:ext cx="266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刻于龟甲兽骨，线条瘦硬。圆圈中加一点，象征太阳实体，保留象形精髓。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721600" y="3111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128000" y="2032000"/>
            <a:ext cx="3048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12700" cmpd="sng" cap="flat">
            <a:solidFill>
              <a:srgbClr val="C8C3B4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207500" y="2286000"/>
            <a:ext cx="88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日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0" y="3365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楷书 ·</a:t>
            </a:r>
            <a:r>
              <a:rPr lang="en-US" b="true" i="false" strike="noStrike" u="none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Regular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3937000"/>
            <a:ext cx="266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笔画平直方正，结构规整。历经演变，最终定型为现代通用的标准形态。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" y="5461000"/>
            <a:ext cx="1117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象形字，象太阳之形；外轮廓为圆形，中一横/点表太阳光芒 /</a:t>
            </a:r>
            <a:r>
              <a:rPr lang="en-US" b="false" i="false" strike="noStrike" u="none" sz="1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Pictograph: shaped like the sun; outer outline = circle, inner line/dot = sunlight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08000" y="6223000"/>
            <a:ext cx="1117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69696"/>
                </a:solidFill>
                <a:latin typeface="Noto Serif SC"/>
                <a:ea typeface="Noto Serif SC"/>
                <a:cs typeface="Noto Serif SC"/>
                <a:sym typeface="Noto Serif SC"/>
              </a:rPr>
              <a:t>字源依据：汉典</a:t>
            </a:r>
            <a:r>
              <a:rPr lang="en-US" b="false" i="false" strike="noStrike" u="none" sz="1200">
                <a:solidFill>
                  <a:srgbClr val="969696"/>
                </a:solidFill>
                <a:latin typeface="Roboto"/>
                <a:ea typeface="Roboto"/>
                <a:cs typeface="Roboto"/>
                <a:sym typeface="Roboto"/>
              </a:rPr>
              <a:t>zdic.net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0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D7D2C3">
              <a:alpha val="20000"/>
            </a:srgbClr>
          </a:solidFill>
          <a:ln cmpd="sng" cap="flat">
            <a:solidFill>
              <a:srgbClr val="BEB499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4445000"/>
            <a:ext cx="3810000" cy="3810000"/>
          </a:xfrm>
          <a:prstGeom prst="ellipse">
            <a:avLst/>
          </a:prstGeom>
          <a:solidFill>
            <a:srgbClr val="D7D2C3">
              <a:alpha val="20000"/>
            </a:srgbClr>
          </a:solidFill>
          <a:ln cmpd="sng" cap="flat">
            <a:solidFill>
              <a:srgbClr val="BEB499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762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案例二：月 yuè /</a:t>
            </a:r>
            <a:r>
              <a:rPr lang="en-US" b="false" i="false" strike="noStrike" u="none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Case 2: yuè (moon)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43000" y="2413000"/>
            <a:ext cx="2921000" cy="2413000"/>
          </a:xfrm>
          <a:prstGeom prst="roundRect">
            <a:avLst>
              <a:gd name="adj" fmla="val 0"/>
            </a:avLst>
          </a:prstGeom>
          <a:solidFill>
            <a:srgbClr val="E1DFD8">
              <a:alpha val="40000"/>
            </a:srgbClr>
          </a:solidFill>
          <a:ln w="12700" cmpd="sng" cap="flat">
            <a:solidFill>
              <a:srgbClr val="B4AFA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197100" y="2730500"/>
            <a:ext cx="812800" cy="812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143000" y="3810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实物</a:t>
            </a:r>
            <a:r>
              <a:rPr lang="en-US" b="true" i="false" strike="noStrike" u="none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Picture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自然夜空的直观视觉印象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4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原始的弯月形态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127500" y="3365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635500" y="2413000"/>
            <a:ext cx="2921000" cy="2413000"/>
          </a:xfrm>
          <a:prstGeom prst="roundRect">
            <a:avLst>
              <a:gd name="adj" fmla="val 0"/>
            </a:avLst>
          </a:prstGeom>
          <a:solidFill>
            <a:srgbClr val="E1DFD8">
              <a:alpha val="40000"/>
            </a:srgbClr>
          </a:solidFill>
          <a:ln w="12700" cmpd="sng" cap="flat">
            <a:solidFill>
              <a:srgbClr val="B4AFA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rcRect l="0" r="0" t="8293" b="8293"/>
          <a:stretch>
            <a:fillRect/>
          </a:stretch>
        </p:blipFill>
        <p:spPr>
          <a:xfrm rot="0" flipH="false" flipV="false">
            <a:off x="5689600" y="2730500"/>
            <a:ext cx="812800" cy="812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4635500" y="3810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甲骨文</a:t>
            </a:r>
            <a:r>
              <a:rPr lang="en-US" b="true" i="false" strike="noStrike" u="none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Oracle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象形造字的雏形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4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描摹月牙的弯曲轮廓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0" y="33655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128000" y="2413000"/>
            <a:ext cx="2921000" cy="2413000"/>
          </a:xfrm>
          <a:prstGeom prst="roundRect">
            <a:avLst>
              <a:gd name="adj" fmla="val 0"/>
            </a:avLst>
          </a:prstGeom>
          <a:solidFill>
            <a:srgbClr val="E1DFD8">
              <a:alpha val="40000"/>
            </a:srgbClr>
          </a:solidFill>
          <a:ln w="12700" cmpd="sng" cap="flat">
            <a:solidFill>
              <a:srgbClr val="B4AFA5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692400"/>
            <a:ext cx="2921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月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3810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楷书</a:t>
            </a:r>
            <a:r>
              <a:rPr lang="en-US" b="true" i="false" strike="noStrike" u="none" sz="18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Regular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笔画方正，结构匀称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</a:br>
            <a:r>
              <a:rPr lang="en-US" b="false" i="false" strike="noStrike" u="none" sz="14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成熟的方块字形态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" y="5334000"/>
            <a:ext cx="1092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象形字，象半月之形；古人因月缺时多、圆时少，故画月牙 /</a:t>
            </a:r>
            <a:r>
              <a:rPr lang="en-US" b="false" i="false" strike="noStrike" u="none" sz="1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Pictograph: shaped like crescent moon; drawn as crescent because the moon is waning more than full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" y="6413500"/>
            <a:ext cx="1092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99999"/>
                </a:solidFill>
                <a:latin typeface="Noto Serif SC"/>
                <a:ea typeface="Noto Serif SC"/>
                <a:cs typeface="Noto Serif SC"/>
                <a:sym typeface="Noto Serif SC"/>
              </a:rPr>
              <a:t>字源依据：汉典 zdic.net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0E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DCD7C8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4445000"/>
            <a:ext cx="3810000" cy="3810000"/>
          </a:xfrm>
          <a:prstGeom prst="ellipse">
            <a:avLst/>
          </a:prstGeom>
          <a:solidFill>
            <a:srgbClr val="DCD7C8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508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日月：一对好兄弟 /</a:t>
            </a:r>
            <a:r>
              <a:rPr lang="en-US" b="false" i="false" strike="noStrike" u="none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Sun &amp; Moon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86249" flipH="false" flipV="false">
            <a:off x="4508500" y="3613163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69187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16000" y="20320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日</a:t>
            </a:r>
            <a:r>
              <a:rPr lang="en-US" b="false" i="false" strike="noStrike" u="none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Sun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921000"/>
            <a:ext cx="2159000" cy="1397000"/>
          </a:xfrm>
          <a:prstGeom prst="roundRect">
            <a:avLst>
              <a:gd name="adj" fmla="val 0"/>
            </a:avLst>
          </a:prstGeom>
          <a:solidFill>
            <a:srgbClr val="D7D2C8">
              <a:alpha val="40000"/>
            </a:srgbClr>
          </a:solidFill>
          <a:ln w="12700" cmpd="sng" cap="flat">
            <a:solidFill>
              <a:srgbClr val="B4AFA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rcRect l="0" r="0" t="14833" b="14833"/>
          <a:stretch>
            <a:fillRect/>
          </a:stretch>
        </p:blipFill>
        <p:spPr>
          <a:xfrm rot="0" flipH="false" flipV="false">
            <a:off x="1016000" y="2921000"/>
            <a:ext cx="2159000" cy="139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3429000" y="2921000"/>
            <a:ext cx="2159000" cy="1397000"/>
          </a:xfrm>
          <a:prstGeom prst="roundRect">
            <a:avLst>
              <a:gd name="adj" fmla="val 0"/>
            </a:avLst>
          </a:prstGeom>
          <a:solidFill>
            <a:srgbClr val="D7D2C8">
              <a:alpha val="40000"/>
            </a:srgbClr>
          </a:solidFill>
          <a:ln w="12700" cmpd="sng" cap="flat">
            <a:solidFill>
              <a:srgbClr val="B4AFA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29000" y="29210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44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楷书 · 方正圆满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699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太阳</a:t>
            </a:r>
            <a:r>
              <a:rPr lang="en-US" b="false" i="false" strike="noStrike" u="none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 the sun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20320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月</a:t>
            </a:r>
            <a:r>
              <a:rPr lang="en-US" b="false" i="false" strike="noStrike" u="none" sz="2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Moon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2921000"/>
            <a:ext cx="2159000" cy="1397000"/>
          </a:xfrm>
          <a:prstGeom prst="roundRect">
            <a:avLst>
              <a:gd name="adj" fmla="val 0"/>
            </a:avLst>
          </a:prstGeom>
          <a:solidFill>
            <a:srgbClr val="D7D2C8">
              <a:alpha val="40000"/>
            </a:srgbClr>
          </a:solidFill>
          <a:ln w="12700" cmpd="sng" cap="flat">
            <a:solidFill>
              <a:srgbClr val="B4AFA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rcRect l="0" r="0" t="23013" b="23013"/>
          <a:stretch>
            <a:fillRect/>
          </a:stretch>
        </p:blipFill>
        <p:spPr>
          <a:xfrm rot="0" flipH="false" flipV="false">
            <a:off x="6350000" y="2921000"/>
            <a:ext cx="2159000" cy="1397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5" id="15"/>
          <p:cNvSpPr/>
          <p:nvPr/>
        </p:nvSpPr>
        <p:spPr>
          <a:xfrm rot="0" flipH="false" flipV="false">
            <a:off x="8763000" y="2921000"/>
            <a:ext cx="2159000" cy="1397000"/>
          </a:xfrm>
          <a:prstGeom prst="roundRect">
            <a:avLst>
              <a:gd name="adj" fmla="val 0"/>
            </a:avLst>
          </a:prstGeom>
          <a:solidFill>
            <a:srgbClr val="D7D2C8">
              <a:alpha val="40000"/>
            </a:srgbClr>
          </a:solidFill>
          <a:ln w="12700" cmpd="sng" cap="flat">
            <a:solidFill>
              <a:srgbClr val="B4AFA5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763000" y="29210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4400">
                <a:solidFill>
                  <a:srgbClr val="323232"/>
                </a:solidFill>
                <a:latin typeface="Noto Serif SC"/>
                <a:ea typeface="Noto Serif SC"/>
                <a:cs typeface="Noto Serif SC"/>
                <a:sym typeface="Noto Serif SC"/>
              </a:rPr>
              <a:t>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楷书 · 清辉婉约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4699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月亮</a:t>
            </a:r>
            <a:r>
              <a:rPr lang="en-US" b="false" i="false" strike="noStrike" u="none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 the moon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81000" y="5778500"/>
            <a:ext cx="1143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两个字都像它们代表的东西</a:t>
            </a:r>
            <a:r>
              <a:rPr lang="en-US" b="false" i="false" strike="noStrike" u="none" sz="18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/ Both characters look like what they mean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3ED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D2CDC3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4445000"/>
            <a:ext cx="3810000" cy="3810000"/>
          </a:xfrm>
          <a:prstGeom prst="ellipse">
            <a:avLst/>
          </a:prstGeom>
          <a:solidFill>
            <a:srgbClr val="D2CDC3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508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常见象形字 /</a:t>
            </a:r>
            <a:r>
              <a:rPr lang="en-US" b="true" i="false" strike="noStrike" u="none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More Pictographs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080000" cy="2286000"/>
          </a:xfrm>
          <a:prstGeom prst="roundRect">
            <a:avLst>
              <a:gd name="adj" fmla="val 0"/>
            </a:avLst>
          </a:prstGeom>
          <a:solidFill>
            <a:srgbClr val="E8E6DE">
              <a:alpha val="60000"/>
            </a:srgbClr>
          </a:solidFill>
          <a:ln w="12700" cmpd="sng" cap="flat">
            <a:solidFill>
              <a:srgbClr val="A09B91">
                <a:alpha val="4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2471" b="2471"/>
          <a:stretch>
            <a:fillRect/>
          </a:stretch>
        </p:blipFill>
        <p:spPr>
          <a:xfrm rot="0" flipH="false" flipV="false">
            <a:off x="2667000" y="1905000"/>
            <a:ext cx="127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3238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山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shān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象山峯并立之形 /</a:t>
            </a:r>
            <a:r>
              <a:rPr lang="en-US" b="false" i="false" strike="noStrike" u="none" sz="1100">
                <a:solidFill>
                  <a:srgbClr val="3C3C3C"/>
                </a:solidFill>
                <a:latin typeface="Roboto"/>
                <a:ea typeface="Roboto"/>
                <a:cs typeface="Roboto"/>
                <a:sym typeface="Roboto"/>
              </a:rPr>
              <a:t>three peaks standing together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778000"/>
            <a:ext cx="5080000" cy="2286000"/>
          </a:xfrm>
          <a:prstGeom prst="roundRect">
            <a:avLst>
              <a:gd name="adj" fmla="val 0"/>
            </a:avLst>
          </a:prstGeom>
          <a:solidFill>
            <a:srgbClr val="E8E6DE">
              <a:alpha val="60000"/>
            </a:srgbClr>
          </a:solidFill>
          <a:ln w="12700" cmpd="sng" cap="flat">
            <a:solidFill>
              <a:srgbClr val="A09B91">
                <a:alpha val="4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rcRect l="0" r="0" t="14639" b="14639"/>
          <a:stretch>
            <a:fillRect/>
          </a:stretch>
        </p:blipFill>
        <p:spPr>
          <a:xfrm rot="0" flipH="false" flipV="false">
            <a:off x="8255000" y="1905000"/>
            <a:ext cx="127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/>
          <p:nvPr/>
        </p:nvSpPr>
        <p:spPr>
          <a:xfrm rot="0" flipH="false" flipV="false">
            <a:off x="6604000" y="3238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水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shuǐ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象水流蜿蜒之形 /</a:t>
            </a:r>
            <a:r>
              <a:rPr lang="en-US" b="false" i="false" strike="noStrike" u="none" sz="1100">
                <a:solidFill>
                  <a:srgbClr val="3C3C3C"/>
                </a:solidFill>
                <a:latin typeface="Roboto"/>
                <a:ea typeface="Roboto"/>
                <a:cs typeface="Roboto"/>
                <a:sym typeface="Roboto"/>
              </a:rPr>
              <a:t>winding flowing water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318000"/>
            <a:ext cx="5080000" cy="2286000"/>
          </a:xfrm>
          <a:prstGeom prst="roundRect">
            <a:avLst>
              <a:gd name="adj" fmla="val 0"/>
            </a:avLst>
          </a:prstGeom>
          <a:solidFill>
            <a:srgbClr val="E8E6DE">
              <a:alpha val="60000"/>
            </a:srgbClr>
          </a:solidFill>
          <a:ln w="12700" cmpd="sng" cap="flat">
            <a:solidFill>
              <a:srgbClr val="A09B91">
                <a:alpha val="4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r="0" t="3878" b="3878"/>
          <a:stretch>
            <a:fillRect/>
          </a:stretch>
        </p:blipFill>
        <p:spPr>
          <a:xfrm rot="0" flipH="false" flipV="false">
            <a:off x="2667000" y="4445000"/>
            <a:ext cx="127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1016000" y="5778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人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rén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象侧立之人形 /</a:t>
            </a:r>
            <a:r>
              <a:rPr lang="en-US" b="false" i="false" strike="noStrike" u="none" sz="1100">
                <a:solidFill>
                  <a:srgbClr val="3C3C3C"/>
                </a:solidFill>
                <a:latin typeface="Roboto"/>
                <a:ea typeface="Roboto"/>
                <a:cs typeface="Roboto"/>
                <a:sym typeface="Roboto"/>
              </a:rPr>
              <a:t>side view of standing person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4318000"/>
            <a:ext cx="5080000" cy="2286000"/>
          </a:xfrm>
          <a:prstGeom prst="roundRect">
            <a:avLst>
              <a:gd name="adj" fmla="val 0"/>
            </a:avLst>
          </a:prstGeom>
          <a:solidFill>
            <a:srgbClr val="E8E6DE">
              <a:alpha val="60000"/>
            </a:srgbClr>
          </a:solidFill>
          <a:ln w="12700" cmpd="sng" cap="flat">
            <a:solidFill>
              <a:srgbClr val="A09B91">
                <a:alpha val="4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rcRect l="0" r="0" t="3982" b="3982"/>
          <a:stretch>
            <a:fillRect/>
          </a:stretch>
        </p:blipFill>
        <p:spPr>
          <a:xfrm rot="0" flipH="false" flipV="false">
            <a:off x="8255000" y="4445000"/>
            <a:ext cx="1270000" cy="1270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6604000" y="5778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木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mù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3C3C3C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象树木形，上枝叶下树根 /</a:t>
            </a:r>
            <a:r>
              <a:rPr lang="en-US" b="false" i="false" strike="noStrike" u="none" sz="1100">
                <a:solidFill>
                  <a:srgbClr val="3C3C3C"/>
                </a:solidFill>
                <a:latin typeface="Roboto"/>
                <a:ea typeface="Roboto"/>
                <a:cs typeface="Roboto"/>
                <a:sym typeface="Roboto"/>
              </a:rPr>
              <a:t>tree shape, branches above, roots below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0" y="6731000"/>
            <a:ext cx="1219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9696"/>
                </a:solidFill>
                <a:latin typeface="Noto Serif SC"/>
                <a:ea typeface="Noto Serif SC"/>
                <a:cs typeface="Noto Serif SC"/>
                <a:sym typeface="Noto Serif SC"/>
              </a:rPr>
              <a:t>字源依据：汉典</a:t>
            </a:r>
            <a:r>
              <a:rPr lang="en-US" b="false" i="false" strike="noStrike" u="none" sz="1000">
                <a:solidFill>
                  <a:srgbClr val="969696"/>
                </a:solidFill>
                <a:latin typeface="Roboto"/>
                <a:ea typeface="Roboto"/>
                <a:cs typeface="Roboto"/>
                <a:sym typeface="Roboto"/>
              </a:rPr>
              <a:t>zdic.net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0E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E0DED2">
              <a:alpha val="40000"/>
            </a:srgbClr>
          </a:solidFill>
          <a:ln cmpd="sng" cap="flat">
            <a:solidFill>
              <a:srgbClr val="C7C2A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4445000"/>
            <a:ext cx="3810000" cy="3810000"/>
          </a:xfrm>
          <a:prstGeom prst="ellipse">
            <a:avLst/>
          </a:prstGeom>
          <a:solidFill>
            <a:srgbClr val="E0DED2">
              <a:alpha val="40000"/>
            </a:srgbClr>
          </a:solidFill>
          <a:ln cmpd="sng" cap="flat">
            <a:solidFill>
              <a:srgbClr val="C7C2A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635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象形三步走 /</a:t>
            </a:r>
            <a:r>
              <a:rPr lang="en-US" b="false" i="false" strike="noStrike" u="none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Three Steps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556000" y="1778000"/>
            <a:ext cx="812800" cy="812800"/>
          </a:xfrm>
          <a:prstGeom prst="ellipse">
            <a:avLst/>
          </a:prstGeom>
          <a:solidFill>
            <a:srgbClr val="A0A0A0">
              <a:alpha val="100000"/>
            </a:srgbClr>
          </a:solidFill>
          <a:ln cmpd="sng" cap="flat">
            <a:solidFill>
              <a:srgbClr val="87797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556000" y="1778000"/>
            <a:ext cx="8128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699000" y="1778000"/>
            <a:ext cx="609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观察实物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Look at the real object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918200" y="28575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3556000" y="3429000"/>
            <a:ext cx="812800" cy="812800"/>
          </a:xfrm>
          <a:prstGeom prst="ellipse">
            <a:avLst/>
          </a:prstGeom>
          <a:solidFill>
            <a:srgbClr val="A0A0A0">
              <a:alpha val="100000"/>
            </a:srgbClr>
          </a:solidFill>
          <a:ln cmpd="sng" cap="flat">
            <a:solidFill>
              <a:srgbClr val="87797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56000" y="3429000"/>
            <a:ext cx="8128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3429000"/>
            <a:ext cx="609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简化描画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Draw a simple version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918200" y="4508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3556000" y="4953000"/>
            <a:ext cx="812800" cy="812800"/>
          </a:xfrm>
          <a:prstGeom prst="ellipse">
            <a:avLst/>
          </a:prstGeom>
          <a:solidFill>
            <a:srgbClr val="A0A0A0">
              <a:alpha val="100000"/>
            </a:srgbClr>
          </a:solidFill>
          <a:ln cmpd="sng" cap="flat">
            <a:solidFill>
              <a:srgbClr val="87797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556000" y="4953000"/>
            <a:ext cx="8128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4953000"/>
            <a:ext cx="609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变成汉字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It becomes a character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0" y="6159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CC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照着画，就是象形 /</a:t>
            </a:r>
            <a:r>
              <a:rPr lang="en-US" b="false" i="false" strike="noStrike" u="none" sz="2000">
                <a:solidFill>
                  <a:srgbClr val="CC3333"/>
                </a:solidFill>
                <a:latin typeface="Roboto"/>
                <a:ea typeface="Roboto"/>
                <a:cs typeface="Roboto"/>
                <a:sym typeface="Roboto"/>
              </a:rPr>
              <a:t>Draw what you see — this is pictograph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2F0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3810000" cy="3810000"/>
          </a:xfrm>
          <a:prstGeom prst="ellipse">
            <a:avLst/>
          </a:prstGeom>
          <a:solidFill>
            <a:srgbClr val="D2CDC3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5080000"/>
            <a:ext cx="3175000" cy="3175000"/>
          </a:xfrm>
          <a:prstGeom prst="ellipse">
            <a:avLst/>
          </a:prstGeom>
          <a:solidFill>
            <a:srgbClr val="D2CDC3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635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6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小练习 /</a:t>
            </a:r>
            <a:r>
              <a:rPr lang="en-US" b="false" i="false" strike="noStrike" u="none" sz="36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Quick Practice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51000" y="1778000"/>
            <a:ext cx="889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A09B9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905000" y="1968500"/>
            <a:ext cx="838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E1E1E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「日」字画的是什么？ /</a:t>
            </a:r>
            <a:r>
              <a:rPr lang="en-US" b="true" i="false" strike="noStrike" u="none" sz="22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What does the character "日" depict?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905000" y="2603500"/>
            <a:ext cx="838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A. 月亮</a:t>
            </a:r>
            <a:r>
              <a:rPr lang="en-US" b="false" i="false" strike="noStrike" u="none" sz="18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(moon)</a:t>
            </a:r>
            <a:r>
              <a:rPr lang="en-US" b="false" i="false" strike="noStrike" u="none" sz="18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B. 太阳</a:t>
            </a:r>
            <a:r>
              <a:rPr lang="en-US" b="false" i="false" strike="noStrike" u="none" sz="18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(sun)</a:t>
            </a:r>
            <a:r>
              <a:rPr lang="en-US" b="false" i="false" strike="noStrike" u="none" sz="18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C. 眼睛</a:t>
            </a:r>
            <a:r>
              <a:rPr lang="en-US" b="false" i="false" strike="noStrike" u="none" sz="18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(eye)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651000" y="3683000"/>
            <a:ext cx="889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A09B91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905000" y="3873500"/>
            <a:ext cx="838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E1E1E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哪个是象形字？ /</a:t>
            </a:r>
            <a:r>
              <a:rPr lang="en-US" b="true" i="false" strike="noStrike" u="none" sz="2200">
                <a:solidFill>
                  <a:srgbClr val="1E1E1E"/>
                </a:solidFill>
                <a:latin typeface="Roboto"/>
                <a:ea typeface="Roboto"/>
                <a:cs typeface="Roboto"/>
                <a:sym typeface="Roboto"/>
              </a:rPr>
              <a:t>Which one is a pictograph?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905000" y="4508500"/>
            <a:ext cx="838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A. 木</a:t>
            </a:r>
            <a:r>
              <a:rPr lang="en-US" b="false" i="false" strike="noStrike" u="none" sz="18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(tree)</a:t>
            </a:r>
            <a:r>
              <a:rPr lang="en-US" b="false" i="false" strike="noStrike" u="none" sz="18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B. 其</a:t>
            </a:r>
            <a:r>
              <a:rPr lang="en-US" b="false" i="false" strike="noStrike" u="none" sz="18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(it)</a:t>
            </a:r>
            <a:r>
              <a:rPr lang="en-US" b="false" i="false" strike="noStrike" u="none" sz="1800">
                <a:solidFill>
                  <a:srgbClr val="555555"/>
                </a:solidFill>
                <a:latin typeface="Noto Serif SC"/>
                <a:ea typeface="Noto Serif SC"/>
                <a:cs typeface="Noto Serif SC"/>
                <a:sym typeface="Noto Serif SC"/>
              </a:rPr>
              <a:t>C. 令</a:t>
            </a:r>
            <a:r>
              <a:rPr lang="en-US" b="false" i="false" strike="noStrike" u="none" sz="1800">
                <a:solidFill>
                  <a:srgbClr val="555555"/>
                </a:solidFill>
                <a:latin typeface="Roboto"/>
                <a:ea typeface="Roboto"/>
                <a:cs typeface="Roboto"/>
                <a:sym typeface="Roboto"/>
              </a:rPr>
              <a:t>(order)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5715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87878"/>
                </a:solidFill>
                <a:latin typeface="Noto Serif SC"/>
                <a:ea typeface="Noto Serif SC"/>
                <a:cs typeface="Noto Serif SC"/>
                <a:sym typeface="Noto Serif SC"/>
              </a:rPr>
              <a:t>答案：1.B 2.A /</a:t>
            </a:r>
            <a:r>
              <a:rPr lang="en-US" b="false" i="false" strike="noStrike" u="none" sz="1600">
                <a:solidFill>
                  <a:srgbClr val="787878"/>
                </a:solidFill>
                <a:latin typeface="Roboto"/>
                <a:ea typeface="Roboto"/>
                <a:cs typeface="Roboto"/>
                <a:sym typeface="Roboto"/>
              </a:rPr>
              <a:t>Answers: 1.B (Sun), 2.A (Tree)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2F1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12000" y="-1270000"/>
            <a:ext cx="5080000" cy="5080000"/>
          </a:xfrm>
          <a:prstGeom prst="ellipse">
            <a:avLst/>
          </a:prstGeom>
          <a:solidFill>
            <a:srgbClr val="D2CDC3">
              <a:alpha val="15000"/>
            </a:srgbClr>
          </a:solidFill>
          <a:ln cmpd="sng" cap="flat">
            <a:solidFill>
              <a:srgbClr val="B8AE99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3810000"/>
            <a:ext cx="3810000" cy="3810000"/>
          </a:xfrm>
          <a:prstGeom prst="ellipse">
            <a:avLst/>
          </a:prstGeom>
          <a:solidFill>
            <a:srgbClr val="D2CDC3">
              <a:alpha val="15000"/>
            </a:srgbClr>
          </a:solidFill>
          <a:ln cmpd="sng" cap="flat">
            <a:solidFill>
              <a:srgbClr val="B8AE99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762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A1A1A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本课总结 /</a:t>
            </a:r>
            <a:r>
              <a:rPr lang="en-US" b="true" i="false" strike="noStrike" u="none" sz="3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Summary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0" y="2413000"/>
            <a:ext cx="177800" cy="177800"/>
          </a:xfrm>
          <a:prstGeom prst="roundRect">
            <a:avLst>
              <a:gd name="adj" fmla="val 0"/>
            </a:avLst>
          </a:prstGeom>
          <a:solidFill>
            <a:srgbClr val="B22222">
              <a:alpha val="100000"/>
            </a:srgbClr>
          </a:solidFill>
          <a:ln cmpd="sng" cap="flat">
            <a:solidFill>
              <a:srgbClr val="990E0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667000" y="2311400"/>
            <a:ext cx="736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1A1A1A"/>
                </a:solidFill>
                <a:latin typeface="Noto Serif SC"/>
                <a:ea typeface="Noto Serif SC"/>
                <a:cs typeface="Noto Serif SC"/>
                <a:sym typeface="Noto Serif SC"/>
              </a:rPr>
              <a:t>象形：照着东西的样子画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Pictograph: Draw characters just like the appearance of objects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0" y="3746500"/>
            <a:ext cx="177800" cy="177800"/>
          </a:xfrm>
          <a:prstGeom prst="roundRect">
            <a:avLst>
              <a:gd name="adj" fmla="val 0"/>
            </a:avLst>
          </a:prstGeom>
          <a:solidFill>
            <a:srgbClr val="B22222">
              <a:alpha val="100000"/>
            </a:srgbClr>
          </a:solidFill>
          <a:ln cmpd="sng" cap="flat">
            <a:solidFill>
              <a:srgbClr val="990E0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67000" y="3644900"/>
            <a:ext cx="736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1A1A1A"/>
                </a:solidFill>
                <a:latin typeface="Noto Serif SC"/>
                <a:ea typeface="Noto Serif SC"/>
                <a:cs typeface="Noto Serif SC"/>
                <a:sym typeface="Noto Serif SC"/>
              </a:rPr>
              <a:t>经典案例：日、月、山、水、人、木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Examples: Sun, Moon, Mountain, Water, Human, Tree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286000" y="5080000"/>
            <a:ext cx="177800" cy="177800"/>
          </a:xfrm>
          <a:prstGeom prst="roundRect">
            <a:avLst>
              <a:gd name="adj" fmla="val 0"/>
            </a:avLst>
          </a:prstGeom>
          <a:solidFill>
            <a:srgbClr val="B22222">
              <a:alpha val="100000"/>
            </a:srgbClr>
          </a:solidFill>
          <a:ln cmpd="sng" cap="flat">
            <a:solidFill>
              <a:srgbClr val="990E0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667000" y="4978400"/>
            <a:ext cx="736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400">
                <a:solidFill>
                  <a:srgbClr val="1A1A1A"/>
                </a:solidFill>
                <a:latin typeface="Noto Serif SC"/>
                <a:ea typeface="Noto Serif SC"/>
                <a:cs typeface="Noto Serif SC"/>
                <a:sym typeface="Noto Serif SC"/>
              </a:rPr>
              <a:t>特点：字画同源，形意合一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8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Feature: Characters resemble real objects, merging form and meaning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0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DCDAD2">
              <a:alpha val="30000"/>
            </a:srgbClr>
          </a:solidFill>
          <a:ln cmpd="sng" cap="flat">
            <a:solidFill>
              <a:srgbClr val="C3BDA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652000" y="4318000"/>
            <a:ext cx="3810000" cy="3810000"/>
          </a:xfrm>
          <a:prstGeom prst="ellipse">
            <a:avLst/>
          </a:prstGeom>
          <a:solidFill>
            <a:srgbClr val="DCDAD2">
              <a:alpha val="30000"/>
            </a:srgbClr>
          </a:solidFill>
          <a:ln cmpd="sng" cap="flat">
            <a:solidFill>
              <a:srgbClr val="C3BDA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286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4800" spc="8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谢谢观看 /</a:t>
            </a:r>
            <a:r>
              <a:rPr lang="en-US" b="false" i="false" strike="noStrike" u="none" sz="4800" spc="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1275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汉字六书·象形造字法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4889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Chinese Character Formation · Pictographs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91200" y="5651500"/>
            <a:ext cx="609600" cy="609600"/>
          </a:xfrm>
          <a:prstGeom prst="roundRect">
            <a:avLst>
              <a:gd name="adj" fmla="val 0"/>
            </a:avLst>
          </a:prstGeom>
          <a:solidFill>
            <a:srgbClr val="B02D2D">
              <a:alpha val="100000"/>
            </a:srgbClr>
          </a:solidFill>
          <a:ln cmpd="sng" cap="flat">
            <a:solidFill>
              <a:srgbClr val="97171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91200" y="5651500"/>
            <a:ext cx="609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完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{"Label":"1","ContentProducer":"001191110102MACQD9K64010000","ProduceID":"7661202141433335031","ReservedCode1":"","ContentPropagator":"","PropagateID":"","ReservedCode2":""}</vt:lpwstr>
  </property>
</Properties>
</file>