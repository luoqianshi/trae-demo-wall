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各位同学，大家好！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今天我们这节课的学习目标主要有三个方面：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首先，我们要深入了解“假借造字法”的核心定义，明白它在汉字造字体系中的地位和作用。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其次，我们将通过具体的案例分析，掌握两个非常经典的假借字实例，通过这些案例来加深对概念的理解。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最后，也是非常关键的一点，我们要学会如何区分一个字的“本义”和它的“假借义”，这是我们今天学习的重点和难点。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让我们带着这些目标，开始今天的汉字文化之旅吧！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这一页我们来深入理解“假借”的定义。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首先，“假借”是汉字的一种造字方法，它的核心特征可以用八个字来概括：“本无其字，依声托事”。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简单来说，就是当我们要表达一个概念或事物时，发现汉字系统里并没有为它专门创造一个字，这时候我们就借用一个已经存在的、读音相同的字来表示这个新的意义。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这是汉字发展过程中非常灵活且重要的一种方式，解决了新词汇不断产生而造字速度跟不上的问题。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这一页我们来深入了解一下“假借”的核心特点。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首先，它最本质的特征是“只借读音，不借字义”。也就是说，借用一个已有的字，仅仅是因为它的发音和要表达的词的发音相同或相近，而并不借用这个字原本的意义。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其次，这就导致了“一字多义，读音相同”的现象。一个字被借去表示另一个词，就会承载多个含义，但这些含义通常在语音上是一致的。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最后，这种造字方法“常用于虚词和抽象词”。因为虚词（如介词、连词）和抽象概念往往比较难以通过象形或指事的方法来造字，所以假借就成为了表达这类词汇的重要手段。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这一页我们进入第一个案例的学习。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大家现在看到的是甲骨文时期的“其”字。它的字形非常独特，看起来像一个编织的器物。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在古文字中，“其”最初并不是我们现在常用的代词，而是指一种古代的簸箕，也就是用来扬米去糠的工具。后来被借用来作为虚词，而它的本义就渐渐被人遗忘了，需要加上竹字头变成“箕”来表示本义。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今天我们就来一起探究这个字的演变历程和背后的文化故事。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各位好，这一页我们来探究“其”字的本义。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大家看左边的插画，这是一个簸箕的形状。在甲骨文中，“其”字就是根据簸箕的象形而来的。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簸箕，即“winnowing basket”，是古代非常重要的一种农具。它的主要作用是通过上下颠簸，利用自然风力，把谷物中的糠秕吹走，从而留下饱满的籽粒。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“其”的本义就是指这种农用工具。后来，这个字被借用来作为代词，也就是我们现在常用的“他、她、它”或“那个”的意思，而它原本表示簸箕的含义，后来就加上了竹字头，变成了“箕”字来专门表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这一页我们来探讨“其”字的假借义。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在古汉语中，“其”原本是一个象形字，代表簸箕。但是，当古人需要表达“它”或者“那个”这样的指代意义时，并没有专门的字来表示，于是他们借用了读音相同的“其”字来充当代词。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这种现象在汉字学中被称为“假借”，也就是借用已有的字来表示同音的另一个词。大家看中间的例句：“其鸟很美”，这里的“其”就是用作代词，指代“那只”鸟。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在我们的演示中，所有表示假借义的部分都会用红色来标注，方便大家识别。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这一页我们来深入探讨“其”字的演变与含义。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大家看左边，“其”的本义是一种竹制的器具，也就是我们常说的“簸箕”，用来扬米去糠。在古代，它是一个非常具体的象形字。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再看右边，随着语言的发展，“其”被借用来表示代词“它”或“那个”，这就是所谓的“假借义”。因为在古音中，这两个意义的发音相近，于是就借用了这个字形。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这种“一字两用”的现象，正是汉字发展中“假借”这一造字法的典型体现，既保留了字形的传承，又赋予了新的生命力。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这一页我们来看“令”这个字的演变。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首先看它的本义，甲骨文的“令”字像一个人在发布命令的样子，所以它的本义就是“命令”，代表着自上而下的权力和指令。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随着语言的发展，“令”产生了假借义，被用来指代“县令”，也就是古代地方上的最高行政长官。这是一个非常典型的由动作引申为发出动作的人或职位的例子。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这一页我们来深入了解“假借”的三个核心步骤。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首先，当一个新的概念或词汇出现时，我们发现现有的汉字中并没有一个专门为它创造的字，这就是第一步：“没有对应汉字”。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接下来，我们需要寻找一个发音相同或相近的现有汉字，这是第二步：“找到同音字”。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最后，我们直接借用这个同音字来记录新的词汇，赋予它新的意义，这就是第三步：“借来使用”。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总结来说，“同音借用，即为假借”，这是汉字造字法中非常重要且独特的一种方式。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这一页我们来做一个小练习，巩固刚才学到的知识。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第一题考察的是“其”字的本义。大家要注意，在汉字的演变中，很多字的本义和现在的常用义是不同的。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第二题考察的是“假借”这一造字法的核心概念。大家回忆一下，假借是借用已有的字来表示新的意义，它借用的是哪个要素呢？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答案分别是B和A。“其”的本义是簸箕，而假借主要是借用字的读音。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我们来回顾一下今天关于“假借”的核心内容。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首先，假借的定义是“本无其字，依声托事”，这是一种非常古老的造字方法。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我们通过“其”和“令”这两个经典案例来理解：“其”原本指簸箕，后来被借用来作为代词；“令”原本指命令，后来被借指长官。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最后，大家要记住假借的核心特点：它只借用了字的读音，而不借用其原本的字形所代表的意义。这正是汉字发展中灵活运用的体现。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感谢大家的聆听。关于汉字六书的假借造字法，我们今天就分享到这里。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2032000"/>
            <a:ext cx="1219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000" spc="5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假借造字法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3683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Jiajie (Phonetic Loan)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9403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汉字六书 · 对外汉语教学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11084"/>
            <a:ext cx="10160000" cy="1315117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学习目标 / Learning Objectives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921000" y="2812539"/>
            <a:ext cx="177800" cy="230145"/>
          </a:xfrm>
          <a:prstGeom prst="ellipse">
            <a:avLst/>
          </a:prstGeom>
          <a:solidFill>
            <a:srgbClr val="EF4444">
              <a:alpha val="100000"/>
            </a:srgbClr>
          </a:solidFill>
          <a:ln cmpd="sng" cap="flat">
            <a:solidFill>
              <a:srgbClr val="D5272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429000" y="2565954"/>
            <a:ext cx="7620000" cy="1150727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了解假借造字法的定义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646A73"/>
                </a:solidFill>
                <a:latin typeface="Poppins"/>
                <a:ea typeface="Poppins"/>
                <a:cs typeface="Poppins"/>
                <a:sym typeface="Poppins"/>
              </a:rPr>
              <a:t>Understand the definition of phonetic loan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921000" y="4127656"/>
            <a:ext cx="177800" cy="230145"/>
          </a:xfrm>
          <a:prstGeom prst="ellipse">
            <a:avLst/>
          </a:prstGeom>
          <a:solidFill>
            <a:srgbClr val="EF4444">
              <a:alpha val="100000"/>
            </a:srgbClr>
          </a:solidFill>
          <a:ln cmpd="sng" cap="flat">
            <a:solidFill>
              <a:srgbClr val="D5272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429000" y="3881071"/>
            <a:ext cx="7620000" cy="1150727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掌握两个经典假借字案例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646A73"/>
                </a:solidFill>
                <a:latin typeface="Poppins"/>
                <a:ea typeface="Poppins"/>
                <a:cs typeface="Poppins"/>
                <a:sym typeface="Poppins"/>
              </a:rPr>
              <a:t>Master two classic examples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921000" y="5442773"/>
            <a:ext cx="177800" cy="230145"/>
          </a:xfrm>
          <a:prstGeom prst="ellipse">
            <a:avLst/>
          </a:prstGeom>
          <a:solidFill>
            <a:srgbClr val="EF4444">
              <a:alpha val="100000"/>
            </a:srgbClr>
          </a:solidFill>
          <a:ln cmpd="sng" cap="flat">
            <a:solidFill>
              <a:srgbClr val="D5272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29000" y="5196188"/>
            <a:ext cx="7620000" cy="1150727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能区分本义和假借义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646A73"/>
                </a:solidFill>
                <a:latin typeface="Poppins"/>
                <a:ea typeface="Poppins"/>
                <a:cs typeface="Poppins"/>
                <a:sym typeface="Poppins"/>
              </a:rPr>
              <a:t>Distinguish original vs. borrowed meaning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635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什么是假借？/ What is Jiajie?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10668000" cy="2667000"/>
          </a:xfrm>
          <a:prstGeom prst="roundRect">
            <a:avLst>
              <a:gd name="adj" fmla="val 5714"/>
            </a:avLst>
          </a:prstGeom>
          <a:solidFill>
            <a:srgbClr val="E5E7EB">
              <a:alpha val="50000"/>
            </a:srgbClr>
          </a:solidFill>
          <a:ln cmpd="sng" cap="flat">
            <a:solidFill>
              <a:srgbClr val="B7C0D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413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本无其字，依声托事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619500"/>
            <a:ext cx="10160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When there is no character for a word, borrow an existing character with the same pronunciation.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5143500"/>
            <a:ext cx="1066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没有专门的汉字 → 借用读音相同的已有汉字</a:t>
            </a:r>
            <a:r>
              <a:rPr lang="en-US" b="false" i="false" strike="noStrike" u="none" sz="18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No matching character → borrow a same-sound character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143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假借的特点 / Features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159000" y="2667000"/>
            <a:ext cx="177800" cy="1778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cmpd="sng" cap="flat">
            <a:solidFill>
              <a:srgbClr val="C30E0E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540000" y="2540000"/>
            <a:ext cx="762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只借读音，不借字义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525252"/>
                </a:solidFill>
                <a:latin typeface="Poppins"/>
                <a:ea typeface="Poppins"/>
                <a:cs typeface="Poppins"/>
                <a:sym typeface="Poppins"/>
              </a:rPr>
              <a:t>Only borrow the sound, not the meaning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159000" y="3810000"/>
            <a:ext cx="177800" cy="1778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cmpd="sng" cap="flat">
            <a:solidFill>
              <a:srgbClr val="C30E0E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540000" y="3683000"/>
            <a:ext cx="762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一字多义，读音相同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525252"/>
                </a:solidFill>
                <a:latin typeface="Poppins"/>
                <a:ea typeface="Poppins"/>
                <a:cs typeface="Poppins"/>
                <a:sym typeface="Poppins"/>
              </a:rPr>
              <a:t>One character, multiple meanings, same sound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159000" y="4953000"/>
            <a:ext cx="177800" cy="1778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cmpd="sng" cap="flat">
            <a:solidFill>
              <a:srgbClr val="C30E0E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540000" y="4826000"/>
            <a:ext cx="762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常用于虚词和抽象词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525252"/>
                </a:solidFill>
                <a:latin typeface="Poppins"/>
                <a:ea typeface="Poppins"/>
                <a:cs typeface="Poppins"/>
                <a:sym typeface="Poppins"/>
              </a:rPr>
              <a:t>Often used for function words &amp; abstract words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016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案例一：其 qí / Case 1: qí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413000"/>
            <a:ext cx="12192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826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甲骨文 Oracle Bone Script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5334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CA3AF"/>
                </a:solidFill>
                <a:latin typeface="Noto Serif SC"/>
                <a:ea typeface="Noto Serif SC"/>
                <a:cs typeface="Noto Serif SC"/>
                <a:sym typeface="Noto Serif SC"/>
              </a:rPr>
              <a:t>猜猜它本来是什么意思？</a:t>
            </a:r>
            <a:r>
              <a:rPr lang="en-US" b="false" i="false" strike="noStrike" u="none" sz="160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/ Guess its original meaning?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7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其 · 本义 / Original Meaning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826000" y="2540000"/>
            <a:ext cx="2540000" cy="1524000"/>
          </a:xfrm>
          <a:prstGeom prst="trapezoid">
            <a:avLst/>
          </a:prstGeom>
          <a:solidFill>
            <a:srgbClr val="F5F5F5">
              <a:alpha val="100000"/>
            </a:srgbClr>
          </a:solidFill>
          <a:ln w="25400" cmpd="sng" cap="flat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0" y="4445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簸箕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651000" y="51435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Poppins"/>
                <a:ea typeface="Poppins"/>
                <a:cs typeface="Poppins"/>
                <a:sym typeface="Poppins"/>
              </a:rPr>
              <a:t>winnowing basket (a tool)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715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一种传统的农用工具，用于簸扬谷物，利用风力分离谷粒与糠秕。</a:t>
            </a:r>
            <a:r>
              <a:rPr lang="en-US" b="false" i="false" strike="noStrike" u="none" sz="1400">
                <a:solidFill>
                  <a:srgbClr val="646464"/>
                </a:solidFill>
                <a:latin typeface="Poppins"/>
                <a:ea typeface="Poppins"/>
                <a:cs typeface="Poppins"/>
                <a:sym typeface="Poppins"/>
              </a:rPr>
              <a:t>A traditional farming tool for winnowing grain, separating kernels from chaff using wind.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508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B91C1C"/>
                </a:solidFill>
                <a:latin typeface="Noto Serif SC"/>
                <a:ea typeface="Noto Serif SC"/>
                <a:cs typeface="Noto Serif SC"/>
                <a:sym typeface="Noto Serif SC"/>
              </a:rPr>
              <a:t>其 · 假借义 / Borrowed Meaning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159000" y="1778000"/>
            <a:ext cx="7874000" cy="2032000"/>
          </a:xfrm>
          <a:prstGeom prst="roundRect">
            <a:avLst>
              <a:gd name="adj" fmla="val 7500"/>
            </a:avLst>
          </a:prstGeom>
          <a:solidFill>
            <a:srgbClr val="FEF2F2">
              <a:alpha val="40000"/>
            </a:srgbClr>
          </a:solidFill>
          <a:ln w="25400" cmpd="sng" cap="flat">
            <a:solidFill>
              <a:srgbClr val="B91C1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159000" y="2032000"/>
            <a:ext cx="7874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4000">
                <a:solidFill>
                  <a:srgbClr val="B91C1C"/>
                </a:solidFill>
                <a:latin typeface="Noto Serif SC"/>
                <a:ea typeface="Noto Serif SC"/>
                <a:cs typeface="Noto Serif SC"/>
                <a:sym typeface="Noto Serif SC"/>
              </a:rPr>
              <a:t>其 = 它 / 那个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159000" y="3111500"/>
            <a:ext cx="787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it / that (pronoun)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4254500"/>
            <a:ext cx="1143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B91C1C"/>
                </a:solidFill>
                <a:latin typeface="Noto Serif SC"/>
                <a:ea typeface="Noto Serif SC"/>
                <a:cs typeface="Noto Serif SC"/>
                <a:sym typeface="Noto Serif SC"/>
              </a:rPr>
              <a:t>其</a:t>
            </a:r>
            <a:r>
              <a:rPr lang="en-US" b="false" i="false" strike="noStrike" u="none" sz="2400">
                <a:solidFill>
                  <a:srgbClr val="1F2937"/>
                </a:solidFill>
                <a:latin typeface="Noto Serif SC"/>
                <a:ea typeface="Noto Serif SC"/>
                <a:cs typeface="Noto Serif SC"/>
                <a:sym typeface="Noto Serif SC"/>
              </a:rPr>
              <a:t>鸟很美。 /</a:t>
            </a:r>
            <a:r>
              <a:rPr lang="en-US" b="false" i="false" strike="noStrike" u="none" sz="24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The bird is beautiful.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51435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古汉语中无专用代词字，故借用同音的“其”来指代事物 / In ancient Chinese, there was no specific pronoun character, so the homophone “qí” was borrowed to refer to things.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61595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CA3AF"/>
                </a:solidFill>
                <a:latin typeface="Noto Serif SC"/>
                <a:ea typeface="Noto Serif SC"/>
                <a:cs typeface="Noto Serif SC"/>
                <a:sym typeface="Noto Serif SC"/>
              </a:rPr>
              <a:t>假借义 = 红色 ｜ Borrowed Meaning = Red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0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其：一字两用 / One Character, Two Uses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5382811" flipH="false" flipV="false">
            <a:off x="4826000" y="3803666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2667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本义 Original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844800" y="3810000"/>
            <a:ext cx="914400" cy="914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5080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  <a:t>簸箕 / winnowing basket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0" y="2667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E53E3E"/>
                </a:solidFill>
                <a:latin typeface="Noto Serif SC"/>
                <a:ea typeface="Noto Serif SC"/>
                <a:cs typeface="Noto Serif SC"/>
                <a:sym typeface="Noto Serif SC"/>
              </a:rPr>
              <a:t>假借义 Borrowed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432800" y="3810000"/>
            <a:ext cx="914400" cy="914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604000" y="5080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E53E3E"/>
                </a:solidFill>
                <a:latin typeface="Poppins"/>
                <a:ea typeface="Poppins"/>
                <a:cs typeface="Poppins"/>
                <a:sym typeface="Poppins"/>
              </a:rPr>
              <a:t>它、那个 / it, that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6096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读音相同，借用字形 / Same sound, borrow the character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7216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案例二：令 lìng / Case 2: lìng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270000" y="206248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本义：命令</a:t>
            </a:r>
            <a:r>
              <a:rPr lang="en-US" b="false" i="false" strike="noStrike" u="none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 Original: to order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651000" y="2951480"/>
            <a:ext cx="889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发号施令，象征着自上而下的权力传达与行动指令，是古代社会等级与秩序的语言体现。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To issue orders; the act of giving authoritative instructions from a superior to a subordinate.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447548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C039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假借义：县令</a:t>
            </a:r>
            <a:r>
              <a:rPr lang="en-US" b="false" i="false" strike="noStrike" u="none" sz="2000">
                <a:solidFill>
                  <a:srgbClr val="C0392B"/>
                </a:solidFill>
                <a:latin typeface="Poppins"/>
                <a:ea typeface="Poppins"/>
                <a:cs typeface="Poppins"/>
                <a:sym typeface="Poppins"/>
              </a:rPr>
              <a:t>/ Borrowed: county magistrate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651000" y="5364480"/>
            <a:ext cx="889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由“命令”引申为掌握地方政令的长官，即一县之主，负责治理地方、教化百姓与执行法令。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A local official governing a county in ancient China, responsible for administration and justice.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254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假借三步走 / Three Steps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175000" y="1651000"/>
            <a:ext cx="609600" cy="609600"/>
          </a:xfrm>
          <a:prstGeom prst="ellipse">
            <a:avLst/>
          </a:prstGeom>
          <a:solidFill>
            <a:srgbClr val="B0B0B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175000" y="1651000"/>
            <a:ext cx="6096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191000" y="1651000"/>
            <a:ext cx="698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没有对应汉字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Poppins"/>
                <a:ea typeface="Poppins"/>
                <a:cs typeface="Poppins"/>
                <a:sym typeface="Poppins"/>
              </a:rPr>
              <a:t>— No character for the word —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918200" y="27940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3175000" y="3302000"/>
            <a:ext cx="609600" cy="609600"/>
          </a:xfrm>
          <a:prstGeom prst="ellipse">
            <a:avLst/>
          </a:prstGeom>
          <a:solidFill>
            <a:srgbClr val="B0B0B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175000" y="3302000"/>
            <a:ext cx="6096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191000" y="3302000"/>
            <a:ext cx="698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找到同音字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Poppins"/>
                <a:ea typeface="Poppins"/>
                <a:cs typeface="Poppins"/>
                <a:sym typeface="Poppins"/>
              </a:rPr>
              <a:t>— Find a same-sound character —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918200" y="44450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175000" y="4826000"/>
            <a:ext cx="609600" cy="609600"/>
          </a:xfrm>
          <a:prstGeom prst="ellipse">
            <a:avLst/>
          </a:prstGeom>
          <a:solidFill>
            <a:srgbClr val="B0B0B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175000" y="4826000"/>
            <a:ext cx="6096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191000" y="4826000"/>
            <a:ext cx="698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借来使用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Poppins"/>
                <a:ea typeface="Poppins"/>
                <a:cs typeface="Poppins"/>
                <a:sym typeface="Poppins"/>
              </a:rPr>
              <a:t>— Borrow it for the new word —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0" y="6096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C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同音借用，即为假借 / Same sound, borrow the character — this is Jiajie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508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小练习 / Quick Practice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14500"/>
            <a:ext cx="10668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D6D1C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879600"/>
            <a:ext cx="10160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212121"/>
                </a:solidFill>
                <a:latin typeface="Noto Serif SC"/>
                <a:ea typeface="Noto Serif SC"/>
                <a:cs typeface="Noto Serif SC"/>
                <a:sym typeface="Noto Serif SC"/>
              </a:rPr>
              <a:t>Q1. 「其」的本义是？</a:t>
            </a:r>
            <a:r>
              <a:rPr lang="en-US" b="false" i="false" strike="noStrike" u="none" sz="20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What is the original meaning of qí?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000">
                <a:solidFill>
                  <a:srgbClr val="424242"/>
                </a:solidFill>
                <a:latin typeface="Noto Serif SC"/>
                <a:ea typeface="Noto Serif SC"/>
                <a:cs typeface="Noto Serif SC"/>
                <a:sym typeface="Noto Serif SC"/>
              </a:rPr>
              <a:t>A. 它 (it) B. 簸箕 (basket) C. 那个 (that)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746500"/>
            <a:ext cx="10668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D6D1C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911600"/>
            <a:ext cx="10160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212121"/>
                </a:solidFill>
                <a:latin typeface="Noto Serif SC"/>
                <a:ea typeface="Noto Serif SC"/>
                <a:cs typeface="Noto Serif SC"/>
                <a:sym typeface="Noto Serif SC"/>
              </a:rPr>
              <a:t>Q2. 假借是借什么？</a:t>
            </a:r>
            <a:r>
              <a:rPr lang="en-US" b="false" i="false" strike="noStrike" u="none" sz="20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What do we borrow in Jiajie?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000">
                <a:solidFill>
                  <a:srgbClr val="424242"/>
                </a:solidFill>
                <a:latin typeface="Noto Serif SC"/>
                <a:ea typeface="Noto Serif SC"/>
                <a:cs typeface="Noto Serif SC"/>
                <a:sym typeface="Noto Serif SC"/>
              </a:rPr>
              <a:t>A. 读音 (sound) B. 字形 (shape) C. 颜色 (color)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5842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808080"/>
                </a:solidFill>
                <a:latin typeface="Noto Serif SC"/>
                <a:ea typeface="Noto Serif SC"/>
                <a:cs typeface="Noto Serif SC"/>
                <a:sym typeface="Noto Serif SC"/>
              </a:rPr>
              <a:t>答案：1.B 2.A / Answers: 1.B 2.A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67945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本课总结 / Summary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667000" y="2457450"/>
            <a:ext cx="177800" cy="1778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048000" y="2368550"/>
            <a:ext cx="736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假借：本无其字，依声托事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525252"/>
                </a:solidFill>
                <a:latin typeface="Poppins"/>
                <a:ea typeface="Poppins"/>
                <a:cs typeface="Poppins"/>
                <a:sym typeface="Poppins"/>
              </a:rPr>
              <a:t>Jiajie: borrow same-sound characters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667000" y="3790950"/>
            <a:ext cx="177800" cy="1778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048000" y="3702050"/>
            <a:ext cx="736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经典案例：其（簸箕→代词）、令（命令→长官）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525252"/>
                </a:solidFill>
                <a:latin typeface="Poppins"/>
                <a:ea typeface="Poppins"/>
                <a:cs typeface="Poppins"/>
                <a:sym typeface="Poppins"/>
              </a:rPr>
              <a:t>Examples: qí, lìng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667000" y="5124450"/>
            <a:ext cx="177800" cy="1778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048000" y="5035550"/>
            <a:ext cx="736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特点：只借读音，不借字义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525252"/>
                </a:solidFill>
                <a:latin typeface="Poppins"/>
                <a:ea typeface="Poppins"/>
                <a:cs typeface="Poppins"/>
                <a:sym typeface="Poppins"/>
              </a:rPr>
              <a:t>Feature: only borrow the sound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2286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4800" spc="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谢谢观看 / Thank You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4064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汉字六书·假借造字法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826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Chinese Character Formation · Phonetic Loan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816600" y="5715000"/>
            <a:ext cx="558800" cy="558800"/>
          </a:xfrm>
          <a:prstGeom prst="roundRect">
            <a:avLst>
              <a:gd name="adj" fmla="val 0"/>
            </a:avLst>
          </a:prstGeom>
          <a:solidFill>
            <a:srgbClr val="B91C1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816600" y="5715000"/>
            <a:ext cx="558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完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{"Label":"1","ContentProducer":"001191110102MACQD9K64010000","ProduceID":"7661190186215574745","ReservedCode1":"","ContentPropagator":"","PropagateID":"","ReservedCode2":""}</vt:lpwstr>
  </property>
</Properties>
</file>