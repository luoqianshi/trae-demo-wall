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image" Target="../media/image-5-2.webp"/><Relationship Id="rId3" Type="http://schemas.openxmlformats.org/officeDocument/2006/relationships/image" Target="../media/image-5-3.webp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1828800"/>
            <a:ext cx="1828800" cy="1828800"/>
          </a:xfrm>
          <a:prstGeom prst="ellipse">
            <a:avLst/>
          </a:prstGeom>
          <a:solidFill>
            <a:srgbClr val="FFB6C1">
              <a:alpha val="30000"/>
            </a:srgbClr>
          </a:solidFill>
          <a:ln w="12700">
            <a:solidFill>
              <a:srgbClr val="FFB6C1">
                <a:alpha val="30000"/>
              </a:srgbClr>
            </a:solidFill>
            <a:prstDash val="solid"/>
          </a:ln>
        </p:spPr>
      </p:sp>
      <p:pic>
        <p:nvPicPr>
          <p:cNvPr id="5" name="Image 0" descr="D:\code\python\test\snowball-diary-new\public\images\snowball-stages\stage-3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雪球日记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让微小的成功被看见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286000" y="457200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陪伴与可视化成长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B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内容概览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320040" cy="320040"/>
          </a:xfrm>
          <a:prstGeom prst="ellipse">
            <a:avLst/>
          </a:prstGeom>
          <a:solidFill>
            <a:srgbClr val="FFB6C1"/>
          </a:solidFill>
          <a:ln w="12700">
            <a:solidFill>
              <a:srgbClr val="FFB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8424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产品概述与价值主张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FFB6C1"/>
          </a:solidFill>
          <a:ln w="12700">
            <a:solidFill>
              <a:srgbClr val="FFB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产品功能总览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320040" cy="320040"/>
          </a:xfrm>
          <a:prstGeom prst="ellipse">
            <a:avLst/>
          </a:prstGeom>
          <a:solidFill>
            <a:srgbClr val="FFB6C1"/>
          </a:solidFill>
          <a:ln w="12700">
            <a:solidFill>
              <a:srgbClr val="FFB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644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核心功能详解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320040" cy="320040"/>
          </a:xfrm>
          <a:prstGeom prst="ellipse">
            <a:avLst/>
          </a:prstGeom>
          <a:solidFill>
            <a:srgbClr val="FFB6C1"/>
          </a:solidFill>
          <a:ln w="12700">
            <a:solidFill>
              <a:srgbClr val="FFB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0448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技术架构设计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114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7CE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后续内容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0" y="1965960"/>
            <a:ext cx="320040" cy="320040"/>
          </a:xfrm>
          <a:prstGeom prst="ellipse">
            <a:avLst/>
          </a:prstGeom>
          <a:solidFill>
            <a:srgbClr val="87CEEB"/>
          </a:solidFill>
          <a:ln w="12700">
            <a:solidFill>
              <a:srgbClr val="87CE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98424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技术栈与实现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2606040"/>
            <a:ext cx="320040" cy="320040"/>
          </a:xfrm>
          <a:prstGeom prst="ellipse">
            <a:avLst/>
          </a:prstGeom>
          <a:solidFill>
            <a:srgbClr val="87CEEB"/>
          </a:solidFill>
          <a:ln w="12700">
            <a:solidFill>
              <a:srgbClr val="87CE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产品特点与亮点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0" y="3246120"/>
            <a:ext cx="320040" cy="320040"/>
          </a:xfrm>
          <a:prstGeom prst="ellipse">
            <a:avLst/>
          </a:prstGeom>
          <a:solidFill>
            <a:srgbClr val="87CEEB"/>
          </a:solidFill>
          <a:ln w="12700">
            <a:solidFill>
              <a:srgbClr val="87CE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2644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产品概述与价值主张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1148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38100">
            <a:solidFill>
              <a:srgbClr val="FFB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问题痛点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小成就容易被忽略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每天都在努力，但进步不易察觉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04288"/>
            <a:ext cx="37490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5000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缺乏持续动力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缺乏正向反馈机制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71216"/>
            <a:ext cx="37490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1693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拖延症难克服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目标大到无从下手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38144"/>
            <a:ext cx="37490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8386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习惯养成困难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缺少持续的记录与反馈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05072"/>
            <a:ext cx="37490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507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成长轨迹模糊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不记得自己的努力与成果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38100">
            <a:solidFill>
              <a:srgbClr val="87CE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雪球日记 · 解决之道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0" y="1783080"/>
            <a:ext cx="3566160" cy="502920"/>
          </a:xfrm>
          <a:prstGeom prst="roundRect">
            <a:avLst>
              <a:gd name="adj" fmla="val 27273"/>
            </a:avLst>
          </a:prstGeom>
          <a:solidFill>
            <a:srgbClr val="FFE5E5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8562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 小成功记录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2240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6C1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2441448"/>
            <a:ext cx="3566160" cy="502920"/>
          </a:xfrm>
          <a:prstGeom prst="roundRect">
            <a:avLst>
              <a:gd name="adj" fmla="val 27273"/>
            </a:avLst>
          </a:prstGeom>
          <a:solidFill>
            <a:srgbClr val="E5F4FF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❄️  雪球变大可视化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2898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6C1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3099816"/>
            <a:ext cx="3566160" cy="502920"/>
          </a:xfrm>
          <a:prstGeom prst="roundRect">
            <a:avLst>
              <a:gd name="adj" fmla="val 27273"/>
            </a:avLst>
          </a:prstGeom>
          <a:solidFill>
            <a:srgbClr val="E5FFE5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172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  获得成就激励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3557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6C1"/>
                </a:solidFill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3758184"/>
            <a:ext cx="3566160" cy="502920"/>
          </a:xfrm>
          <a:prstGeom prst="roundRect">
            <a:avLst>
              <a:gd name="adj" fmla="val 27273"/>
            </a:avLst>
          </a:prstGeom>
          <a:solidFill>
            <a:srgbClr val="FFF9E5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38313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 建立正向反馈循环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4434840"/>
            <a:ext cx="374904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6C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"每天记录一个小成功，雪球会越来越大！"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产品功能总览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1148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74320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4630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记录系统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3秒快速记录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AI自动标签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情感分析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74320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4630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❄️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雪球成长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834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分数计算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庆祝动画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280160"/>
            <a:ext cx="274320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14630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08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任务管理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834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四象限优先级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长任务分解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习惯打卡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274320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356616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3703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成就体系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937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37个成就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7大分类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里程碑激励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383280"/>
            <a:ext cx="274320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297680" y="356616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3703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47472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AI陪伴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74720" y="4937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智能反馈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每日提问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拖延急救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383280"/>
            <a:ext cx="274320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0" y="356616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3703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40080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成长分析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0" y="4937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成长时间线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AI报告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核心功能：雪球成长系统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1148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38100">
            <a:solidFill>
              <a:srgbClr val="FFB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雪球成长阶段</a:t>
            </a:r>
            <a:endParaRPr lang="en-US" sz="1800" dirty="0"/>
          </a:p>
        </p:txBody>
      </p:sp>
      <p:pic>
        <p:nvPicPr>
          <p:cNvPr id="8" name="Image 0" descr="D:\code\python\test\snowball-diary-new\public\images\snowball-stages\stage-1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雪粒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0-49 分</a:t>
            </a:r>
            <a:endParaRPr lang="en-US" sz="1000" dirty="0"/>
          </a:p>
        </p:txBody>
      </p:sp>
      <p:pic>
        <p:nvPicPr>
          <p:cNvPr id="11" name="Image 1" descr="D:\code\python\test\snowball-diary-new\public\images\snowball-stages\stage-2.web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828800"/>
            <a:ext cx="1097280" cy="1097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小雪球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10312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50-199 分</a:t>
            </a:r>
            <a:endParaRPr lang="en-US" sz="1000" dirty="0"/>
          </a:p>
        </p:txBody>
      </p:sp>
      <p:pic>
        <p:nvPicPr>
          <p:cNvPr id="14" name="Image 2" descr="D:\code\python\test\snowball-diary-new\public\images\snowball-stages\stage-3.web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1463040" cy="1463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雪球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8328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200+ 分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109728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38100">
            <a:solidFill>
              <a:srgbClr val="87CEE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分数奖励规则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02920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创建记录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31520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 分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029200" y="2267712"/>
            <a:ext cx="3657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29200" y="2377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完成普通任务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315200" y="2377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 分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029200" y="2816352"/>
            <a:ext cx="3657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29200" y="2926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完成快速任务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315200" y="2926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7CE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 分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5029200" y="3364992"/>
            <a:ext cx="3657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习惯打卡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7315200" y="3474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 分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5029200" y="3913632"/>
            <a:ext cx="3657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02920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完成长任务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7315200" y="4023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8D8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+10 分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核心功能：任务管理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1148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38100">
            <a:solidFill>
              <a:srgbClr val="FFB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四象限优先级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828800" cy="1325880"/>
          </a:xfrm>
          <a:prstGeom prst="roundRect">
            <a:avLst>
              <a:gd name="adj" fmla="val 10345"/>
            </a:avLst>
          </a:prstGeom>
          <a:solidFill>
            <a:srgbClr val="FFE5E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紧急且重要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立即处理，不可拖延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783080"/>
            <a:ext cx="1828800" cy="1325880"/>
          </a:xfrm>
          <a:prstGeom prst="roundRect">
            <a:avLst>
              <a:gd name="adj" fmla="val 10345"/>
            </a:avLst>
          </a:prstGeom>
          <a:solidFill>
            <a:srgbClr val="E5F4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重要不紧急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规划执行，持续跟进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1828800" cy="1325880"/>
          </a:xfrm>
          <a:prstGeom prst="roundRect">
            <a:avLst>
              <a:gd name="adj" fmla="val 10345"/>
            </a:avLst>
          </a:prstGeom>
          <a:solidFill>
            <a:srgbClr val="FFF5E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E6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紧急不重要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794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尽量委托，快速完成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3246120"/>
            <a:ext cx="1828800" cy="1325880"/>
          </a:xfrm>
          <a:prstGeom prst="roundRect">
            <a:avLst>
              <a:gd name="adj" fmla="val 10345"/>
            </a:avLst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不紧急不重要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3794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减少或删除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38100">
            <a:solidFill>
              <a:srgbClr val="87CE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任务类型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37760" y="1783080"/>
            <a:ext cx="3749040" cy="685800"/>
          </a:xfrm>
          <a:prstGeom prst="roundRect">
            <a:avLst>
              <a:gd name="adj" fmla="val 20000"/>
            </a:avLst>
          </a:prstGeom>
          <a:solidFill>
            <a:srgbClr val="FFF0F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892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69280" y="1856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快速任务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2148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简单快捷，随手完成 +2分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560320"/>
            <a:ext cx="3749040" cy="685800"/>
          </a:xfrm>
          <a:prstGeom prst="roundRect">
            <a:avLst>
              <a:gd name="adj" fmla="val 20000"/>
            </a:avLst>
          </a:prstGeom>
          <a:solidFill>
            <a:srgbClr val="F0F8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670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69280" y="2633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普通任务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标准待办事项 +5分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337560"/>
            <a:ext cx="3749040" cy="685800"/>
          </a:xfrm>
          <a:prstGeom prst="roundRect">
            <a:avLst>
              <a:gd name="adj" fmla="val 20000"/>
            </a:avLst>
          </a:prstGeom>
          <a:solidFill>
            <a:srgbClr val="F0FFF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447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669280" y="3410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6928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目标级任务，可分解 +10分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4114800"/>
            <a:ext cx="3749040" cy="685800"/>
          </a:xfrm>
          <a:prstGeom prst="roundRect">
            <a:avLst>
              <a:gd name="adj" fmla="val 20000"/>
            </a:avLst>
          </a:prstGeom>
          <a:solidFill>
            <a:srgbClr val="FFFFF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4224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669280" y="4187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69280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每日/每周重复 +5分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核心功能：拖延急救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1148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38100">
            <a:solidFill>
              <a:srgbClr val="FFB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躺平 → 行动 的魔法分解术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56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选择目标场景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1305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从预设场景中选择当前状态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532888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AI生成小步骤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智能拆分为可执行的微小步骤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282696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55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一步步完成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6301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降低心理负担，轻松开始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032504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056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最终达成目标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3799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积累成就感，持续改进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38100">
            <a:solidFill>
              <a:srgbClr val="87CE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支持的场景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37760" y="1783080"/>
            <a:ext cx="1828800" cy="1325880"/>
          </a:xfrm>
          <a:prstGeom prst="roundRect">
            <a:avLst>
              <a:gd name="adj" fmla="val 10345"/>
            </a:avLst>
          </a:prstGeom>
          <a:solidFill>
            <a:srgbClr val="FFF0F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 → 📚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0" y="2514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躺平刷手机 → 去图书馆学习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1783080"/>
            <a:ext cx="1828800" cy="1325880"/>
          </a:xfrm>
          <a:prstGeom prst="roundRect">
            <a:avLst>
              <a:gd name="adj" fmla="val 10345"/>
            </a:avLst>
          </a:prstGeom>
          <a:solidFill>
            <a:srgbClr val="F0F8FF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🛋️ → 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2514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躺着不想动 → 去运动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246120"/>
            <a:ext cx="1828800" cy="1325880"/>
          </a:xfrm>
          <a:prstGeom prst="roundRect">
            <a:avLst>
              <a:gd name="adj" fmla="val 10345"/>
            </a:avLst>
          </a:prstGeom>
          <a:solidFill>
            <a:srgbClr val="F0FFF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3474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💭 → 🍳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29200" y="3977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发呆 → 去做饭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03720" y="3246120"/>
            <a:ext cx="1828800" cy="1325880"/>
          </a:xfrm>
          <a:prstGeom prst="roundRect">
            <a:avLst>
              <a:gd name="adj" fmla="val 10345"/>
            </a:avLst>
          </a:prstGeom>
          <a:solidFill>
            <a:srgbClr val="FFFFF0"/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3474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📺 → 💼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95160" y="3977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短视频停不下 → 开始工作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核心功能：成就体系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1148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38100">
            <a:solidFill>
              <a:srgbClr val="FFB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37个成就 · 7大分类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记录类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214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连续类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12140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5054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挑战类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50545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8895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任务类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88950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273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互动类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2735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隐藏类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657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0416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大师类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40416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成就级别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773168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773168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109728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38100">
            <a:solidFill>
              <a:srgbClr val="87CE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成就级别说明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937760" y="1737360"/>
            <a:ext cx="3749040" cy="530352"/>
          </a:xfrm>
          <a:prstGeom prst="roundRect">
            <a:avLst>
              <a:gd name="adj" fmla="val 20690"/>
            </a:avLst>
          </a:prstGeom>
          <a:solidFill>
            <a:srgbClr val="FFF0F3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810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77840" y="1792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202996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入门级，轻松获得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2359152"/>
            <a:ext cx="3749040" cy="530352"/>
          </a:xfrm>
          <a:prstGeom prst="roundRect">
            <a:avLst>
              <a:gd name="adj" fmla="val 20690"/>
            </a:avLst>
          </a:prstGeom>
          <a:solidFill>
            <a:srgbClr val="FFF0F3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43230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🌿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77840" y="24140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minor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26517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普通级，稍加努力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2980944"/>
            <a:ext cx="3749040" cy="530352"/>
          </a:xfrm>
          <a:prstGeom prst="roundRect">
            <a:avLst>
              <a:gd name="adj" fmla="val 20690"/>
            </a:avLst>
          </a:prstGeom>
          <a:solidFill>
            <a:srgbClr val="F0F8F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05409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🌳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77840" y="3035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growth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77840" y="32735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成长级，持续坚持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3602736"/>
            <a:ext cx="3749040" cy="530352"/>
          </a:xfrm>
          <a:prstGeom prst="roundRect">
            <a:avLst>
              <a:gd name="adj" fmla="val 20690"/>
            </a:avLst>
          </a:prstGeom>
          <a:solidFill>
            <a:srgbClr val="FFFFF0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367588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🏔️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77840" y="3657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major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77840" y="389534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大师级，显著成就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37760" y="4224528"/>
            <a:ext cx="3749040" cy="530352"/>
          </a:xfrm>
          <a:prstGeom prst="roundRect">
            <a:avLst>
              <a:gd name="adj" fmla="val 20690"/>
            </a:avLst>
          </a:prstGeom>
          <a:solidFill>
            <a:srgbClr val="F0FFF0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42976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🦋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577840" y="4279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577840" y="45171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蜕变级，终极目标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1148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系统整体架构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1691640"/>
            <a:ext cx="6400800" cy="777240"/>
          </a:xfrm>
          <a:prstGeom prst="roundRect">
            <a:avLst>
              <a:gd name="adj" fmla="val 17647"/>
            </a:avLst>
          </a:prstGeom>
          <a:solidFill>
            <a:srgbClr val="FFB6C1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7830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 前端应用层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1305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Pages · Components · Contexts · Hooks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606040"/>
            <a:ext cx="6400800" cy="777240"/>
          </a:xfrm>
          <a:prstGeom prst="roundRect">
            <a:avLst>
              <a:gd name="adj" fmla="val 17647"/>
            </a:avLst>
          </a:prstGeom>
          <a:solidFill>
            <a:srgbClr val="87CEEB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697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  API网关层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0449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App Router API Routes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3520440"/>
            <a:ext cx="6400800" cy="777240"/>
          </a:xfrm>
          <a:prstGeom prst="roundRect">
            <a:avLst>
              <a:gd name="adj" fmla="val 17647"/>
            </a:avLst>
          </a:prstGeom>
          <a:solidFill>
            <a:srgbClr val="98D89E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36118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 业务逻辑层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9593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local-db · snowball-score · achievement-engine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4434840"/>
            <a:ext cx="6400800" cy="777240"/>
          </a:xfrm>
          <a:prstGeom prst="roundRect">
            <a:avLst>
              <a:gd name="adj" fmla="val 17647"/>
            </a:avLst>
          </a:prstGeom>
          <a:solidFill>
            <a:srgbClr val="F7DC6F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45262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💾  数据存储层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8737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本地JSON文件 local-db.json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技术栈与实现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1148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技术栈总览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755648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737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16.2.4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02996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前端框架 · App Router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532888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877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80160" y="25146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19.2.4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80720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10128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649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3291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5844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类型安全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087368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142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80160" y="40690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CSS 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36168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原子化样式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核心技术选型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754880" y="164592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892040" y="1755648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98D89E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1737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Framer Motion 12.38.0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77840" y="202996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流畅动画 · 雪球特效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42316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892040" y="2532888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F7DC6F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5877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77840" y="25146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Recharts 3.8.1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77840" y="280720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20040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892040" y="3310128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87CEEB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33649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77840" y="3291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 GLM-4-Flash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77840" y="35844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 · 智能对话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97764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4087368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DDA0DD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4142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77840" y="40690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本地JSON存储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77840" y="436168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零配置 · 无服务器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产品特点与亮点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1148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743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4630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极简设计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界面清爽 · 交互直观 · 3秒快速记录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743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4630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❄️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雪球成长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788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从雪粒到雪球 · 可视化成长过程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280160"/>
            <a:ext cx="2743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14630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精美动画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2788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Framer Motion · 流畅交互体验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2743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347472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3611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864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AI陪伴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智能反馈 · 每日提问 · 拖延急救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291840"/>
            <a:ext cx="2743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297680" y="347472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3611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47472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任务分解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474720" y="4800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四象限优先级 · 长任务拆解 · 习惯追踪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291840"/>
            <a:ext cx="2743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0" y="347472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3611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40080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成就激励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00800" y="4800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37个成就 · 正向反馈 · 持续激励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303520"/>
            <a:ext cx="2743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371600" y="548640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B6C1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5623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48640" y="6812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成长时间线 · 统计分析 · AI报告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41148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8D8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64592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基础记录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任务管理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雪球成长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6C1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21408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8D8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 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21408" y="1920240"/>
            <a:ext cx="164592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212848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成就系统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12848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AI反馈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12848" y="3063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拖延急救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75888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6C1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77056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 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77056" y="1920240"/>
            <a:ext cx="164592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968496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本地持久化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68496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挑战系统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68496" y="3063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成长时间线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31536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6C1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32704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V4.0 🛠️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32704" y="1920240"/>
            <a:ext cx="164592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724144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云端同步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24144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多设备支持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24144" y="3063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社区功能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87184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6C1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88352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V5.0 📋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88352" y="1920240"/>
            <a:ext cx="164592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79792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移动端APP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79792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数据导出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79792" y="3063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高级分析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B6C1">
              <a:alpha val="35000"/>
            </a:srgbClr>
          </a:solidFill>
          <a:ln w="12700">
            <a:solidFill>
              <a:srgbClr val="FFB6C1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87CEEB">
              <a:alpha val="35000"/>
            </a:srgbClr>
          </a:solidFill>
          <a:ln w="12700">
            <a:solidFill>
              <a:srgbClr val="87CEEB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1371600"/>
            <a:ext cx="1828800" cy="1828800"/>
          </a:xfrm>
          <a:prstGeom prst="ellipse">
            <a:avLst/>
          </a:prstGeom>
          <a:solidFill>
            <a:srgbClr val="FFB6C1">
              <a:alpha val="30000"/>
            </a:srgbClr>
          </a:solidFill>
          <a:ln w="12700">
            <a:solidFill>
              <a:srgbClr val="FFB6C1">
                <a:alpha val="30000"/>
              </a:srgbClr>
            </a:solidFill>
            <a:prstDash val="solid"/>
          </a:ln>
        </p:spPr>
      </p:sp>
      <p:pic>
        <p:nvPicPr>
          <p:cNvPr id="5" name="Image 0" descr="D:\code\python\test\snowball-diary-new\public\images\snowball-stages\stage-3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55448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让每一天的努力都被看见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286000" y="4754880"/>
            <a:ext cx="4572000" cy="457200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雪球日记 - 与你的雪球一起成长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雪球日记 - 产品介绍</dc:title>
  <dc:subject>产品演示文稿</dc:subject>
  <dc:creator>雪球日记团队</dc:creator>
  <cp:lastModifiedBy>雪球日记团队</cp:lastModifiedBy>
  <cp:revision>1</cp:revision>
  <dcterms:created xsi:type="dcterms:W3CDTF">2026-06-03T09:03:01Z</dcterms:created>
  <dcterms:modified xsi:type="dcterms:W3CDTF">2026-06-03T09:03:01Z</dcterms:modified>
</cp:coreProperties>
</file>